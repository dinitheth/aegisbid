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06e046014f40f8" /><Relationship Type="http://schemas.openxmlformats.org/officeDocument/2006/relationships/extended-properties" Target="/docProps/app.xml" Id="R05350914f9054bba" /><Relationship Type="http://schemas.openxmlformats.org/officeDocument/2006/relationships/officeDocument" Target="/ppt/presentation.xml" Id="Recd36590a1f1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dd7d590a1d4017"/>
  </p:sldMasterIdLst>
  <p:notesMasterIdLst>
    <p:notesMasterId xmlns:r="http://schemas.openxmlformats.org/officeDocument/2006/relationships" r:id="R0b4b19df685f456f"/>
  </p:notesMasterIdLst>
  <p:sldIdLst>
    <p:sldId xmlns:r="http://schemas.openxmlformats.org/officeDocument/2006/relationships" id="256" r:id="R86791e3615264eaf"/>
    <p:sldId xmlns:r="http://schemas.openxmlformats.org/officeDocument/2006/relationships" id="257" r:id="R4f05ab7b400f43b8"/>
    <p:sldId xmlns:r="http://schemas.openxmlformats.org/officeDocument/2006/relationships" id="258" r:id="Re1dfb21f929148f1"/>
    <p:sldId xmlns:r="http://schemas.openxmlformats.org/officeDocument/2006/relationships" id="259" r:id="R788c51492b284770"/>
    <p:sldId xmlns:r="http://schemas.openxmlformats.org/officeDocument/2006/relationships" id="260" r:id="R7b888a80003d4ed1"/>
    <p:sldId xmlns:r="http://schemas.openxmlformats.org/officeDocument/2006/relationships" id="261" r:id="Rf379c9fafa154988"/>
    <p:sldId xmlns:r="http://schemas.openxmlformats.org/officeDocument/2006/relationships" id="262" r:id="Rbb2d434ea0eb42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5f0936120a42f8" /><Relationship Type="http://schemas.openxmlformats.org/officeDocument/2006/relationships/slideMaster" Target="/ppt/slideMasters/slideMaster1.xml" Id="Rb0dd7d590a1d4017" /><Relationship Type="http://schemas.openxmlformats.org/officeDocument/2006/relationships/notesMaster" Target="/ppt/notesMasters/notesMaster1.xml" Id="R0b4b19df685f456f" /><Relationship Type="http://schemas.openxmlformats.org/officeDocument/2006/relationships/presProps" Target="/ppt/presProps.xml" Id="R9eebaaab62634207" /><Relationship Type="http://schemas.openxmlformats.org/officeDocument/2006/relationships/tableStyles" Target="/ppt/tableStyles.xml" Id="Rb3f9caabee7a4b41" /><Relationship Type="http://schemas.openxmlformats.org/officeDocument/2006/relationships/slide" Target="/ppt/slides/slide1.xml" Id="R86791e3615264eaf" /><Relationship Type="http://schemas.openxmlformats.org/officeDocument/2006/relationships/slide" Target="/ppt/slides/slide2.xml" Id="R4f05ab7b400f43b8" /><Relationship Type="http://schemas.openxmlformats.org/officeDocument/2006/relationships/slide" Target="/ppt/slides/slide3.xml" Id="Re1dfb21f929148f1" /><Relationship Type="http://schemas.openxmlformats.org/officeDocument/2006/relationships/slide" Target="/ppt/slides/slide4.xml" Id="R788c51492b284770" /><Relationship Type="http://schemas.openxmlformats.org/officeDocument/2006/relationships/slide" Target="/ppt/slides/slide5.xml" Id="R7b888a80003d4ed1" /><Relationship Type="http://schemas.openxmlformats.org/officeDocument/2006/relationships/slide" Target="/ppt/slides/slide6.xml" Id="Rf379c9fafa154988" /><Relationship Type="http://schemas.openxmlformats.org/officeDocument/2006/relationships/slide" Target="/ppt/slides/slide7.xml" Id="Rbb2d434ea0eb42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c2695783ca4b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bda3fd5fee46c9" /><Relationship Type="http://schemas.openxmlformats.org/officeDocument/2006/relationships/notesMaster" Target="/ppt/notesMasters/notesMaster1.xml" Id="Rf5f2c55dd52b40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d026b888e24ce0" /><Relationship Type="http://schemas.openxmlformats.org/officeDocument/2006/relationships/notesMaster" Target="/ppt/notesMasters/notesMaster1.xml" Id="Re88f81e9c72241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bcdeb29a2c483a" /><Relationship Type="http://schemas.openxmlformats.org/officeDocument/2006/relationships/notesMaster" Target="/ppt/notesMasters/notesMaster1.xml" Id="R7d959cde98ab47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534b90fcaa492c" /><Relationship Type="http://schemas.openxmlformats.org/officeDocument/2006/relationships/notesMaster" Target="/ppt/notesMasters/notesMaster1.xml" Id="R52e1b90a17ed46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086ef0f6824d96" /><Relationship Type="http://schemas.openxmlformats.org/officeDocument/2006/relationships/notesMaster" Target="/ppt/notesMasters/notesMaster1.xml" Id="R76959b520783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8c10c28dd64883" /><Relationship Type="http://schemas.openxmlformats.org/officeDocument/2006/relationships/notesMaster" Target="/ppt/notesMasters/notesMaster1.xml" Id="R1d19389ff1754a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cbdcbb2c084db2" /><Relationship Type="http://schemas.openxmlformats.org/officeDocument/2006/relationships/notesMaster" Target="/ppt/notesMasters/notesMaster1.xml" Id="Ra03967ff5df244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facts from the repository README and docs/MIDNIGHT_INTEGRATION.md. Event: https://app.akindo.io/wave-hacks/jaMZjqPOBsLXvjdG. Add verified team, contact, and demo URL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is a prototype. Avoid claiming that all bid data stays permanently on the bidder device: settlement witnesses are required by the evaluator. Event fit and criteria: https://app.akindo.io/wave-hacks/jaMZjqPOBsLXvjdG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Flow derived from contracts/aegis_bid_v2.compact and README.md. The issuer handles real-world award/payment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and witnesses are named in contracts/aegis_bid_v2.compact. The UI and README describe encrypted witness-file handoff. Event criteria emphasize private state and dual-ledger understanding: https://app.akindo.io/wave-hacks/jaMZjqPOBsLXvjdG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facts from README.md, contracts/aegis_bid_v2.compact, managed/DEPLOYMENTS.md. Current target is a test network, not mainnet. Event engineering criterion: https://app.akindo.io/wave-hacks/jaMZjqPOBsLXvjdG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Commands are package.json scripts. The README explains that Compact proving backend compilation was verified on a compatible Azure builder; rerun and preserve fresh output before submission. The static check must not be described as compilation.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adoption path is a project proposal, not an existing customer commitment. Event viability criterion asks for target user and adoption path: https://app.akindo.io/wave-hacks/jaMZjqPOBsLXvjdG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f0da7835784c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f296854bdf4d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bb4fdd05d45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febf4cd6445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3ba6972fc45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b79bbbedb45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69035E-6CC8-4462-9B90-B000F03DC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70445D-54A9-4C57-BA25-49BDFDF21E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962AE5-9002-4324-9439-2EE582218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3C7F8-88DC-4685-8BFB-65290BB3D2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A2EB15-AFAE-4309-9B78-DD947C0D81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9D37D1-E08D-4492-8890-841A24CB27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AAB6943-87BF-431D-8F9A-417A95F3F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D9CE88F-8EEB-4846-BC91-89EF7838A1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0A2311-393B-425E-9F3A-61ABE8020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A6F24B-4F18-4497-8761-BE8FF0160E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25839ebe8e479a" /><Relationship Type="http://schemas.openxmlformats.org/officeDocument/2006/relationships/slideLayout" Target="/ppt/slideLayouts/slideLayout1.xml" Id="Rdef2aa65deb84924" /><Relationship Type="http://schemas.openxmlformats.org/officeDocument/2006/relationships/slideLayout" Target="/ppt/slideLayouts/slideLayout2.xml" Id="R67675a1438f54a09" /><Relationship Type="http://schemas.openxmlformats.org/officeDocument/2006/relationships/slideLayout" Target="/ppt/slideLayouts/slideLayout3.xml" Id="R18294f8b60ac49c1" /><Relationship Type="http://schemas.openxmlformats.org/officeDocument/2006/relationships/slideLayout" Target="/ppt/slideLayouts/slideLayout4.xml" Id="Rd8e6d3dda9834c1b" /><Relationship Type="http://schemas.openxmlformats.org/officeDocument/2006/relationships/slideLayout" Target="/ppt/slideLayouts/slideLayout5.xml" Id="R9b047a22a53340f3" /><Relationship Type="http://schemas.openxmlformats.org/officeDocument/2006/relationships/slideLayout" Target="/ppt/slideLayouts/slideLayout6.xml" Id="Ra177f9b70f31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f2aa65deb84924"/>
    <p:sldLayoutId xmlns:r="http://schemas.openxmlformats.org/officeDocument/2006/relationships" id="2147483650" r:id="R67675a1438f54a09"/>
    <p:sldLayoutId xmlns:r="http://schemas.openxmlformats.org/officeDocument/2006/relationships" id="2147483651" r:id="R18294f8b60ac49c1"/>
    <p:sldLayoutId xmlns:r="http://schemas.openxmlformats.org/officeDocument/2006/relationships" id="2147483652" r:id="Rd8e6d3dda9834c1b"/>
    <p:sldLayoutId xmlns:r="http://schemas.openxmlformats.org/officeDocument/2006/relationships" id="2147483653" r:id="R9b047a22a53340f3"/>
    <p:sldLayoutId xmlns:r="http://schemas.openxmlformats.org/officeDocument/2006/relationships" id="2147483654" r:id="Ra177f9b70f31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47f8568ecc4e87" /><Relationship Type="http://schemas.openxmlformats.org/officeDocument/2006/relationships/notesSlide" Target="/ppt/notesSlides/notesSlide1.xml" Id="R1d343bf5323e42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bc3eb0e0d446df" /><Relationship Type="http://schemas.openxmlformats.org/officeDocument/2006/relationships/notesSlide" Target="/ppt/notesSlides/notesSlide2.xml" Id="R6a4605b0300e4a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c7be3b028247e0" /><Relationship Type="http://schemas.openxmlformats.org/officeDocument/2006/relationships/notesSlide" Target="/ppt/notesSlides/notesSlide3.xml" Id="R34dd2bb3eb4346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9e8f01eb94d2a" /><Relationship Type="http://schemas.openxmlformats.org/officeDocument/2006/relationships/notesSlide" Target="/ppt/notesSlides/notesSlide4.xml" Id="Rc44aae50340242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51a0bff37341b0" /><Relationship Type="http://schemas.openxmlformats.org/officeDocument/2006/relationships/notesSlide" Target="/ppt/notesSlides/notesSlide5.xml" Id="Rf64a130ab3024c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fe5ff1e404fb4" /><Relationship Type="http://schemas.openxmlformats.org/officeDocument/2006/relationships/notesSlide" Target="/ppt/notesSlides/notesSlide6.xml" Id="R9325c75c1fe647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cda2823ea4f34" /><Relationship Type="http://schemas.openxmlformats.org/officeDocument/2006/relationships/notesSlide" Target="/ppt/notesSlides/notesSlide7.xml" Id="Rafce8db6fb284b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4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int accent">
            <a:extLst xmlns:a="http://schemas.openxmlformats.org/drawingml/2006/main">
              <a:ext uri="{FF2B5EF4-FFF2-40B4-BE49-F238E27FC236}">
                <a16:creationId xmlns:a16="http://schemas.microsoft.com/office/drawing/2014/main" id="{7A77B1E2-36D6-40DE-BD00-A092D03A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1066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A9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64DBBAD-5350-44D4-8CC1-D43F1203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A9D9F0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A9D9F0"/>
                </a:solidFill>
              </a:defRPr>
            </a:pPr>
            <a:r>
              <a:rPr sz="1350" b="1">
                <a:solidFill>
                  <a:srgbClr val="A9D9F0"/>
                </a:solidFill>
              </a:rPr>
              <a:t>MIDNIGHT BUILDATHON  /  WAVE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3543C8-9D4B-472B-94B4-AE571BCA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6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6450" b="1">
                <a:solidFill>
                  <a:srgbClr val="FFFFFF"/>
                </a:solidFill>
              </a:defRPr>
            </a:pPr>
            <a:r>
              <a:rPr sz="6450" b="1">
                <a:solidFill>
                  <a:srgbClr val="FFFFFF"/>
                </a:solidFill>
              </a:rPr>
              <a:t>AegisBid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D0FCAF7-1C21-4553-94A5-79AC8130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009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0">
                <a:solidFill>
                  <a:srgbClr val="D7EAF6"/>
                </a:solidFill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D7EAF6"/>
                </a:solidFill>
              </a:defRPr>
            </a:pPr>
            <a:r>
              <a:rPr sz="3000" b="0">
                <a:solidFill>
                  <a:srgbClr val="D7EAF6"/>
                </a:solidFill>
              </a:rPr>
              <a:t>Private bids.</a:t>
            </a:r>
          </a:p>
          <a:p xmlns:a="http://schemas.openxmlformats.org/drawingml/2006/main">
            <a:pPr>
              <a:defRPr sz="3000" b="0">
                <a:solidFill>
                  <a:srgbClr val="D7EAF6"/>
                </a:solidFill>
              </a:defRPr>
            </a:pPr>
            <a:r>
              <a:rPr sz="3000" b="0">
                <a:solidFill>
                  <a:srgbClr val="D7EAF6"/>
                </a:solidFill>
              </a:rPr>
              <a:t>Publicly verifiable outcomes.</a:t>
            </a:r>
          </a:p>
        </p:txBody>
      </p:sp>
      <p:sp>
        <p:nvSpPr>
          <p:cNvPr id="5" name="description">
            <a:extLst xmlns:a="http://schemas.openxmlformats.org/drawingml/2006/main">
              <a:ext uri="{FF2B5EF4-FFF2-40B4-BE49-F238E27FC236}">
                <a16:creationId xmlns:a16="http://schemas.microsoft.com/office/drawing/2014/main" id="{782D9E83-F4F3-4597-9573-D15D251E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A9D9F0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A9D9F0"/>
                </a:solidFill>
              </a:defRPr>
            </a:pPr>
            <a:r>
              <a:rPr sz="1725" b="0">
                <a:solidFill>
                  <a:srgbClr val="A9D9F0"/>
                </a:solidFill>
              </a:rPr>
              <a:t>A sealed-tender prototype built on Midnight Preprod</a:t>
            </a:r>
          </a:p>
        </p:txBody>
      </p:sp>
      <p:sp>
        <p:nvSpPr>
          <p:cNvPr id="6" name="repo">
            <a:extLst xmlns:a="http://schemas.openxmlformats.org/drawingml/2006/main">
              <a:ext uri="{FF2B5EF4-FFF2-40B4-BE49-F238E27FC236}">
                <a16:creationId xmlns:a16="http://schemas.microsoft.com/office/drawing/2014/main" id="{292E9FC2-B23A-48D9-8859-0C977E14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B8CAD9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B8CAD9"/>
                </a:solidFill>
              </a:defRPr>
            </a:pPr>
            <a:r>
              <a:rPr sz="1200" b="0">
                <a:solidFill>
                  <a:srgbClr val="B8CAD9"/>
                </a:solidFill>
              </a:rPr>
              <a:t>github.com/dinitheth/AegisBid    ·    October 2026</a:t>
            </a:r>
          </a:p>
        </p:txBody>
      </p:sp>
    </p:spTree>
    <p:extLst>
      <p:ext uri="{BB962C8B-B14F-4D97-AF65-F5344CB8AC3E}">
        <p14:creationId xmlns:p14="http://schemas.microsoft.com/office/powerpoint/2010/main" val="8724770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9022BB31-3D69-4CF1-B435-B4C148C6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PROBLEM AND MIDNIGHT FIT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FB95BE-A1FA-4344-A379-67A21E2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Tender decisions need privacy and proof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28AF999-2611-4F2B-89CE-1129C3B4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69783C8-2CCE-4105-B8CD-54D20789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FAF2810-3CEC-4EAF-AC0B-2B9876B5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02</a:t>
            </a:r>
          </a:p>
        </p:txBody>
      </p:sp>
      <p:sp>
        <p:nvSpPr>
          <p:cNvPr id="6" name="left label">
            <a:extLst xmlns:a="http://schemas.openxmlformats.org/drawingml/2006/main">
              <a:ext uri="{FF2B5EF4-FFF2-40B4-BE49-F238E27FC236}">
                <a16:creationId xmlns:a16="http://schemas.microsoft.com/office/drawing/2014/main" id="{06B5E8FE-64CC-4A5A-8ED6-B2C9702C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THE TENSION</a:t>
            </a:r>
          </a:p>
        </p:txBody>
      </p:sp>
      <p:sp>
        <p:nvSpPr>
          <p:cNvPr id="7" name="left copy">
            <a:extLst xmlns:a="http://schemas.openxmlformats.org/drawingml/2006/main">
              <a:ext uri="{FF2B5EF4-FFF2-40B4-BE49-F238E27FC236}">
                <a16:creationId xmlns:a16="http://schemas.microsoft.com/office/drawing/2014/main" id="{CE6118B5-9C42-416B-8A96-042D767F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4524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A2444"/>
                </a:solidFill>
              </a:defRPr>
            </a:pPr>
            <a:r>
              <a:rPr sz="2025" b="0">
                <a:solidFill>
                  <a:srgbClr val="0A2444"/>
                </a:solidFill>
              </a:rPr>
              <a:t>On-chain offers can expose sensitive prices.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0A2444"/>
                </a:solidFill>
              </a:defRPr>
            </a:pPr>
            <a:r>
              <a:rPr sz="2025" b="0">
                <a:solidFill>
                  <a:srgbClr val="0A2444"/>
                </a:solidFill>
              </a:rPr>
              <a:t>Off-chain tenders keep prices private, but participants must trust the evaluator.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16864F71-5EE7-4036-813F-80D3F97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ight label">
            <a:extLst xmlns:a="http://schemas.openxmlformats.org/drawingml/2006/main">
              <a:ext uri="{FF2B5EF4-FFF2-40B4-BE49-F238E27FC236}">
                <a16:creationId xmlns:a16="http://schemas.microsoft.com/office/drawing/2014/main" id="{DDFCE9A9-32B7-4BB0-A4DD-E243F98C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6A9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6A97A"/>
                </a:solidFill>
              </a:defRPr>
            </a:pPr>
            <a:r>
              <a:rPr sz="1350" b="1">
                <a:solidFill>
                  <a:srgbClr val="26A97A"/>
                </a:solidFill>
              </a:rPr>
              <a:t>AEGISBID ON MIDNIGHT</a:t>
            </a:r>
          </a:p>
        </p:txBody>
      </p:sp>
      <p:sp>
        <p:nvSpPr>
          <p:cNvPr id="10" name="right copy">
            <a:extLst xmlns:a="http://schemas.openxmlformats.org/drawingml/2006/main">
              <a:ext uri="{FF2B5EF4-FFF2-40B4-BE49-F238E27FC236}">
                <a16:creationId xmlns:a16="http://schemas.microsoft.com/office/drawing/2014/main" id="{F35EBE92-2262-49A2-A021-5A7F3714E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A2444"/>
                </a:solidFill>
              </a:defRPr>
            </a:pPr>
            <a:r>
              <a:rPr sz="2025" b="0">
                <a:solidFill>
                  <a:srgbClr val="0A2444"/>
                </a:solidFill>
              </a:rPr>
              <a:t>Bidders commit to offers without publishing their values. After closing, a Compact circuit checks that the declared winner belongs to the committed set and satisfies the tender rule.</a:t>
            </a:r>
          </a:p>
        </p:txBody>
      </p:sp>
      <p:sp>
        <p:nvSpPr>
          <p:cNvPr id="11" name="bottom">
            <a:extLst xmlns:a="http://schemas.openxmlformats.org/drawingml/2006/main">
              <a:ext uri="{FF2B5EF4-FFF2-40B4-BE49-F238E27FC236}">
                <a16:creationId xmlns:a16="http://schemas.microsoft.com/office/drawing/2014/main" id="{607E67BD-B2AD-4CAE-B0D1-1662F452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18D"/>
                </a:solidFill>
              </a:defRPr>
            </a:pPr>
            <a:r>
              <a:rPr sz="1725" b="0">
                <a:solidFill>
                  <a:srgbClr val="55718D"/>
                </a:solidFill>
              </a:rPr>
              <a:t>Midnight’s selective disclosure lets the receipt reveal the winning value while leaving losing prices off the public receipt.</a:t>
            </a:r>
          </a:p>
        </p:txBody>
      </p:sp>
    </p:spTree>
    <p:extLst>
      <p:ext uri="{BB962C8B-B14F-4D97-AF65-F5344CB8AC3E}">
        <p14:creationId xmlns:p14="http://schemas.microsoft.com/office/powerpoint/2010/main" val="646830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">
            <a:extLst xmlns:a="http://schemas.openxmlformats.org/drawingml/2006/main">
              <a:ext uri="{FF2B5EF4-FFF2-40B4-BE49-F238E27FC236}">
                <a16:creationId xmlns:a16="http://schemas.microsoft.com/office/drawing/2014/main" id="{65B6665B-0D7E-44A3-B99E-B38C7B42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PRODUCT FLOW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FDAEAC-A00C-40D8-8FB5-A72EAC8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One tender, four verifiable stages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B479804D-7126-473B-84D5-1D39088C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B5145D9-17AB-41A7-BBCD-3645C0B7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E37484D-8BE6-433F-8B53-0586A4B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03</a:t>
            </a:r>
          </a:p>
        </p:txBody>
      </p:sp>
      <p:sp>
        <p:nvSpPr>
          <p:cNvPr id="6" name="stage-1">
            <a:extLst xmlns:a="http://schemas.openxmlformats.org/drawingml/2006/main">
              <a:ext uri="{FF2B5EF4-FFF2-40B4-BE49-F238E27FC236}">
                <a16:creationId xmlns:a16="http://schemas.microsoft.com/office/drawing/2014/main" id="{E1BC6EC8-D74B-4093-AAAE-673B51B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01  PUBLISH</a:t>
            </a:r>
          </a:p>
        </p:txBody>
      </p:sp>
      <p:sp>
        <p:nvSpPr>
          <p:cNvPr id="7" name="detail-1">
            <a:extLst xmlns:a="http://schemas.openxmlformats.org/drawingml/2006/main">
              <a:ext uri="{FF2B5EF4-FFF2-40B4-BE49-F238E27FC236}">
                <a16:creationId xmlns:a16="http://schemas.microsoft.com/office/drawing/2014/main" id="{992FF447-22EA-44DE-89B8-581E098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A2444"/>
                </a:solidFill>
              </a:defRPr>
            </a:pPr>
            <a:r>
              <a:rPr sz="1725" b="0">
                <a:solidFill>
                  <a:srgbClr val="0A2444"/>
                </a:solidFill>
              </a:rPr>
              <a:t>Issuer deploys policy, deadline, reserve or ceiling, and evaluator capability.</a:t>
            </a:r>
          </a:p>
        </p:txBody>
      </p:sp>
      <p:sp>
        <p:nvSpPr>
          <p:cNvPr id="8" name="stage-rule-1">
            <a:extLst xmlns:a="http://schemas.openxmlformats.org/drawingml/2006/main">
              <a:ext uri="{FF2B5EF4-FFF2-40B4-BE49-F238E27FC236}">
                <a16:creationId xmlns:a16="http://schemas.microsoft.com/office/drawing/2014/main" id="{DF616230-DB29-45CE-B82E-3CA20538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D828AF0B-395A-421A-9B86-A5FFC366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47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02  COMMIT</a:t>
            </a:r>
          </a:p>
        </p:txBody>
      </p:sp>
      <p:sp>
        <p:nvSpPr>
          <p:cNvPr id="10" name="detail-2">
            <a:extLst xmlns:a="http://schemas.openxmlformats.org/drawingml/2006/main">
              <a:ext uri="{FF2B5EF4-FFF2-40B4-BE49-F238E27FC236}">
                <a16:creationId xmlns:a16="http://schemas.microsoft.com/office/drawing/2014/main" id="{AEF9638A-4D55-435D-99EA-495FEE29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194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A2444"/>
                </a:solidFill>
              </a:defRPr>
            </a:pPr>
            <a:r>
              <a:rPr sz="1725" b="0">
                <a:solidFill>
                  <a:srgbClr val="0A2444"/>
                </a:solidFill>
              </a:rPr>
              <a:t>Bidder proves an offer commitment. The ledger records a commitment and scoped nullifier.</a:t>
            </a:r>
          </a:p>
        </p:txBody>
      </p:sp>
      <p:sp>
        <p:nvSpPr>
          <p:cNvPr id="11" name="stage-rule-2">
            <a:extLst xmlns:a="http://schemas.openxmlformats.org/drawingml/2006/main">
              <a:ext uri="{FF2B5EF4-FFF2-40B4-BE49-F238E27FC236}">
                <a16:creationId xmlns:a16="http://schemas.microsoft.com/office/drawing/2014/main" id="{0AC6D591-159A-4CA2-A44D-5E5767B3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13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ge-3">
            <a:extLst xmlns:a="http://schemas.openxmlformats.org/drawingml/2006/main">
              <a:ext uri="{FF2B5EF4-FFF2-40B4-BE49-F238E27FC236}">
                <a16:creationId xmlns:a16="http://schemas.microsoft.com/office/drawing/2014/main" id="{A8D386BD-6273-4B05-8922-C15EB4E7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03  EVALUATE</a:t>
            </a:r>
          </a:p>
        </p:txBody>
      </p:sp>
      <p:sp>
        <p:nvSpPr>
          <p:cNvPr id="13" name="detail-3">
            <a:extLst xmlns:a="http://schemas.openxmlformats.org/drawingml/2006/main">
              <a:ext uri="{FF2B5EF4-FFF2-40B4-BE49-F238E27FC236}">
                <a16:creationId xmlns:a16="http://schemas.microsoft.com/office/drawing/2014/main" id="{D274572C-5562-4099-874B-73D48F93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94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A2444"/>
                </a:solidFill>
              </a:defRPr>
            </a:pPr>
            <a:r>
              <a:rPr sz="1725" b="0">
                <a:solidFill>
                  <a:srgbClr val="0A2444"/>
                </a:solidFill>
              </a:rPr>
              <a:t>After ledger time reaches closing, the evaluator supplies the committed bid witnesses.</a:t>
            </a:r>
          </a:p>
        </p:txBody>
      </p:sp>
      <p:sp>
        <p:nvSpPr>
          <p:cNvPr id="14" name="stage-rule-3">
            <a:extLst xmlns:a="http://schemas.openxmlformats.org/drawingml/2006/main">
              <a:ext uri="{FF2B5EF4-FFF2-40B4-BE49-F238E27FC236}">
                <a16:creationId xmlns:a16="http://schemas.microsoft.com/office/drawing/2014/main" id="{6EB3FBE8-BA19-438B-A7B4-50B5E81B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1375"/>
            <a:ext cx="228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4">
            <a:extLst xmlns:a="http://schemas.openxmlformats.org/drawingml/2006/main">
              <a:ext uri="{FF2B5EF4-FFF2-40B4-BE49-F238E27FC236}">
                <a16:creationId xmlns:a16="http://schemas.microsoft.com/office/drawing/2014/main" id="{B7972DC1-206B-451C-AF03-25BF9F90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47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6A9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6A97A"/>
                </a:solidFill>
              </a:defRPr>
            </a:pPr>
            <a:r>
              <a:rPr sz="1350" b="1">
                <a:solidFill>
                  <a:srgbClr val="26A97A"/>
                </a:solidFill>
              </a:rPr>
              <a:t>04  SETTLE</a:t>
            </a:r>
          </a:p>
        </p:txBody>
      </p:sp>
      <p:sp>
        <p:nvSpPr>
          <p:cNvPr id="16" name="detail-4">
            <a:extLst xmlns:a="http://schemas.openxmlformats.org/drawingml/2006/main">
              <a:ext uri="{FF2B5EF4-FFF2-40B4-BE49-F238E27FC236}">
                <a16:creationId xmlns:a16="http://schemas.microsoft.com/office/drawing/2014/main" id="{4107082E-E3C6-497F-9096-1C0D2346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819400"/>
            <a:ext cx="23622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A2444"/>
                </a:solidFill>
              </a:defRPr>
            </a:pPr>
            <a:r>
              <a:rPr sz="1725" b="0">
                <a:solidFill>
                  <a:srgbClr val="0A2444"/>
                </a:solidFill>
              </a:rPr>
              <a:t>The circuit checks membership, completeness, ordering, and policy before writing the receipt.</a:t>
            </a:r>
          </a:p>
        </p:txBody>
      </p:sp>
      <p:sp>
        <p:nvSpPr>
          <p:cNvPr id="17" name="boundary">
            <a:extLst xmlns:a="http://schemas.openxmlformats.org/drawingml/2006/main">
              <a:ext uri="{FF2B5EF4-FFF2-40B4-BE49-F238E27FC236}">
                <a16:creationId xmlns:a16="http://schemas.microsoft.com/office/drawing/2014/main" id="{9D86917C-2AFC-40C0-842F-B470700E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95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5718D"/>
                </a:solidFill>
              </a:defRPr>
            </a:pPr>
            <a:r>
              <a:rPr sz="1725" b="1">
                <a:solidFill>
                  <a:srgbClr val="55718D"/>
                </a:solidFill>
              </a:rPr>
              <a:t>The receipt proves the tender outcome. It does not transfer goods, an award, or payment.</a:t>
            </a:r>
          </a:p>
        </p:txBody>
      </p:sp>
    </p:spTree>
    <p:extLst>
      <p:ext uri="{BB962C8B-B14F-4D97-AF65-F5344CB8AC3E}">
        <p14:creationId xmlns:p14="http://schemas.microsoft.com/office/powerpoint/2010/main" val="739777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A7001099-2FF6-4898-89E4-AB43E767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MIDNIGHT ARCHITECTURE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4F0C0C-9E25-4F4D-8676-45E078B0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What stays private, what the receipt proves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9EF80BF-7430-4466-8F53-C6C7B027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6E79B5F-BA23-4ADA-BB41-92E97394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6655DDA-4992-4E8F-90EA-28BCBD3A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04</a:t>
            </a:r>
          </a:p>
        </p:txBody>
      </p:sp>
      <p:sp>
        <p:nvSpPr>
          <p:cNvPr id="6" name="public heading">
            <a:extLst xmlns:a="http://schemas.openxmlformats.org/drawingml/2006/main">
              <a:ext uri="{FF2B5EF4-FFF2-40B4-BE49-F238E27FC236}">
                <a16:creationId xmlns:a16="http://schemas.microsoft.com/office/drawing/2014/main" id="{03AD0F70-5A9E-4108-8E61-51632F0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PUBLIC LEDGER</a:t>
            </a:r>
          </a:p>
        </p:txBody>
      </p:sp>
      <p:sp>
        <p:nvSpPr>
          <p:cNvPr id="7" name="public body">
            <a:extLst xmlns:a="http://schemas.openxmlformats.org/drawingml/2006/main">
              <a:ext uri="{FF2B5EF4-FFF2-40B4-BE49-F238E27FC236}">
                <a16:creationId xmlns:a16="http://schemas.microsoft.com/office/drawing/2014/main" id="{6E4E9870-36CA-4173-9CDD-49BD28C0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476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Tender terms and phase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Offer commitments and nullifiers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Evaluator commitment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Winning commitment and value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Comparison root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ECD19952-02AD-4079-8565-A25440D4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52650"/>
            <a:ext cx="190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vate heading">
            <a:extLst xmlns:a="http://schemas.openxmlformats.org/drawingml/2006/main">
              <a:ext uri="{FF2B5EF4-FFF2-40B4-BE49-F238E27FC236}">
                <a16:creationId xmlns:a16="http://schemas.microsoft.com/office/drawing/2014/main" id="{E4A00338-1F0B-4144-BC46-4ED30EF6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6A9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6A97A"/>
                </a:solidFill>
              </a:defRPr>
            </a:pPr>
            <a:r>
              <a:rPr sz="1350" b="1">
                <a:solidFill>
                  <a:srgbClr val="26A97A"/>
                </a:solidFill>
              </a:rPr>
              <a:t>PRIVATE WITNESSES</a:t>
            </a:r>
          </a:p>
        </p:txBody>
      </p:sp>
      <p:sp>
        <p:nvSpPr>
          <p:cNvPr id="10" name="private body">
            <a:extLst xmlns:a="http://schemas.openxmlformats.org/drawingml/2006/main">
              <a:ext uri="{FF2B5EF4-FFF2-40B4-BE49-F238E27FC236}">
                <a16:creationId xmlns:a16="http://schemas.microsoft.com/office/drawing/2014/main" id="{E066CB43-E335-41C0-A0E8-3879ED2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485775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Offer amount and salt at bid time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Bidder key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Candidate amounts, salts, and keys at settlement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Evaluator capability</a:t>
            </a:r>
          </a:p>
        </p:txBody>
      </p:sp>
      <p:sp>
        <p:nvSpPr>
          <p:cNvPr id="11" name="caveat">
            <a:extLst xmlns:a="http://schemas.openxmlformats.org/drawingml/2006/main">
              <a:ext uri="{FF2B5EF4-FFF2-40B4-BE49-F238E27FC236}">
                <a16:creationId xmlns:a16="http://schemas.microsoft.com/office/drawing/2014/main" id="{0DE35241-10C0-4EDF-A18F-254A81B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5718D"/>
                </a:solidFill>
              </a:defRPr>
            </a:pPr>
            <a:r>
              <a:rPr sz="1650" b="0">
                <a:solidFill>
                  <a:srgbClr val="55718D"/>
                </a:solidFill>
              </a:rPr>
              <a:t>The evaluator must obtain witnesses after closing. The current app supports encrypted file handoff; recovery is not automatic.</a:t>
            </a:r>
          </a:p>
        </p:txBody>
      </p:sp>
    </p:spTree>
    <p:extLst>
      <p:ext uri="{BB962C8B-B14F-4D97-AF65-F5344CB8AC3E}">
        <p14:creationId xmlns:p14="http://schemas.microsoft.com/office/powerpoint/2010/main" val="847346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307512DE-7CF8-4D50-9E06-157AD8BF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ENGINEERING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5CA811-D35F-4147-831F-3765059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A deployed Compact V2 path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B43174A-2CDD-4ECF-B99D-092E4617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26EDB60-5B46-45AA-BF26-9E913EC5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53682F-0309-4877-9CBF-3BFC3A98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05</a:t>
            </a:r>
          </a:p>
        </p:txBody>
      </p:sp>
      <p:sp>
        <p:nvSpPr>
          <p:cNvPr id="6" name="main fact">
            <a:extLst xmlns:a="http://schemas.openxmlformats.org/drawingml/2006/main">
              <a:ext uri="{FF2B5EF4-FFF2-40B4-BE49-F238E27FC236}">
                <a16:creationId xmlns:a16="http://schemas.microsoft.com/office/drawing/2014/main" id="{1A5540CB-64E7-480B-AD87-43062B5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752A2"/>
                </a:solidFill>
              </a:defRPr>
            </a:pPr>
            <a:r>
              <a:rPr sz="2700" b="1">
                <a:solidFill>
                  <a:srgbClr val="0752A2"/>
                </a:solidFill>
              </a:rPr>
              <a:t>Compact V2 on Midnight Preprod</a:t>
            </a:r>
          </a:p>
        </p:txBody>
      </p:sp>
      <p:sp>
        <p:nvSpPr>
          <p:cNvPr id="7" name="sub fact">
            <a:extLst xmlns:a="http://schemas.openxmlformats.org/drawingml/2006/main">
              <a:ext uri="{FF2B5EF4-FFF2-40B4-BE49-F238E27FC236}">
                <a16:creationId xmlns:a16="http://schemas.microsoft.com/office/drawing/2014/main" id="{69B714DE-5B13-408B-9D9B-A4F1683A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5718D"/>
                </a:solidFill>
              </a:defRPr>
            </a:pPr>
            <a:r>
              <a:rPr sz="1725" b="0">
                <a:solidFill>
                  <a:srgbClr val="55718D"/>
                </a:solidFill>
              </a:rPr>
              <a:t>1AM wallet integration  /  Ledger 8  /  generated contract bindings</a:t>
            </a:r>
          </a:p>
        </p:txBody>
      </p:sp>
      <p:sp>
        <p:nvSpPr>
          <p:cNvPr id="8" name="rule1">
            <a:extLst xmlns:a="http://schemas.openxmlformats.org/drawingml/2006/main">
              <a:ext uri="{FF2B5EF4-FFF2-40B4-BE49-F238E27FC236}">
                <a16:creationId xmlns:a16="http://schemas.microsoft.com/office/drawing/2014/main" id="{67A705E3-AECC-41EA-AF9F-CAF79771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ngineering copy">
            <a:extLst xmlns:a="http://schemas.openxmlformats.org/drawingml/2006/main">
              <a:ext uri="{FF2B5EF4-FFF2-40B4-BE49-F238E27FC236}">
                <a16:creationId xmlns:a16="http://schemas.microsoft.com/office/drawing/2014/main" id="{71B99CD2-0FDD-46D6-9FA6-3A34D100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019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The contract uses ledger block time for closing and evaluation gates. It checks a tender-scoped nullifier, evaluator capability, complete witness set, optimal ordering, and reserve or ceiling. Settlement is bounded to eight bids to keep proof assets practical for this prototype.</a:t>
            </a:r>
          </a:p>
        </p:txBody>
      </p:sp>
      <p:sp>
        <p:nvSpPr>
          <p:cNvPr id="10" name="address">
            <a:extLst xmlns:a="http://schemas.openxmlformats.org/drawingml/2006/main">
              <a:ext uri="{FF2B5EF4-FFF2-40B4-BE49-F238E27FC236}">
                <a16:creationId xmlns:a16="http://schemas.microsoft.com/office/drawing/2014/main" id="{7FBB3E3B-A482-470E-8EF4-D5FDDDE5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5718D"/>
                </a:solidFill>
              </a:defRPr>
            </a:pPr>
            <a:r>
              <a:rPr sz="1275" b="0">
                <a:solidFill>
                  <a:srgbClr val="55718D"/>
                </a:solidFill>
              </a:rPr>
              <a:t>Preprod contract: 21b2efc6…e9bdc957  ·  full address and proof-asset details in README</a:t>
            </a:r>
          </a:p>
        </p:txBody>
      </p:sp>
    </p:spTree>
    <p:extLst>
      <p:ext uri="{BB962C8B-B14F-4D97-AF65-F5344CB8AC3E}">
        <p14:creationId xmlns:p14="http://schemas.microsoft.com/office/powerpoint/2010/main" val="574969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F4F22A32-4E61-45E1-8468-9CAFF688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QUALITY AND LIMITS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E71C87-FC5A-4BA4-A070-ADFB5483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Evidence first, with explicit boundaries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C01BF70-77D8-4F89-985B-BFED0745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85965E8-DC46-4E5C-8FEE-529B6F5F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E4C6F6-1658-41E6-AE51-823EA9A1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06</a:t>
            </a:r>
          </a:p>
        </p:txBody>
      </p:sp>
      <p:sp>
        <p:nvSpPr>
          <p:cNvPr id="6" name="test label">
            <a:extLst xmlns:a="http://schemas.openxmlformats.org/drawingml/2006/main">
              <a:ext uri="{FF2B5EF4-FFF2-40B4-BE49-F238E27FC236}">
                <a16:creationId xmlns:a16="http://schemas.microsoft.com/office/drawing/2014/main" id="{BD6CE252-99C3-498F-A83D-E3BF348D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REPRODUCIBLE CHECKS</a:t>
            </a:r>
          </a:p>
        </p:txBody>
      </p:sp>
      <p:sp>
        <p:nvSpPr>
          <p:cNvPr id="7" name="test commands">
            <a:extLst xmlns:a="http://schemas.openxmlformats.org/drawingml/2006/main">
              <a:ext uri="{FF2B5EF4-FFF2-40B4-BE49-F238E27FC236}">
                <a16:creationId xmlns:a16="http://schemas.microsoft.com/office/drawing/2014/main" id="{B27ABD3A-BB7D-4036-9AF5-D147A35A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5143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npm test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npm run compact:v2:check</a:t>
            </a:r>
          </a:p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npm run build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0F7DF886-22EB-4FBF-A4D2-12D5E56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imits label">
            <a:extLst xmlns:a="http://schemas.openxmlformats.org/drawingml/2006/main">
              <a:ext uri="{FF2B5EF4-FFF2-40B4-BE49-F238E27FC236}">
                <a16:creationId xmlns:a16="http://schemas.microsoft.com/office/drawing/2014/main" id="{59E789E4-569A-472F-8E7B-43A84EBF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6A9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6A97A"/>
                </a:solidFill>
              </a:defRPr>
            </a:pPr>
            <a:r>
              <a:rPr sz="1350" b="1">
                <a:solidFill>
                  <a:srgbClr val="26A97A"/>
                </a:solidFill>
              </a:rPr>
              <a:t>KNOWN LIMITS</a:t>
            </a:r>
          </a:p>
        </p:txBody>
      </p:sp>
      <p:sp>
        <p:nvSpPr>
          <p:cNvPr id="10" name="limits copy">
            <a:extLst xmlns:a="http://schemas.openxmlformats.org/drawingml/2006/main">
              <a:ext uri="{FF2B5EF4-FFF2-40B4-BE49-F238E27FC236}">
                <a16:creationId xmlns:a16="http://schemas.microsoft.com/office/drawing/2014/main" id="{4C208064-9922-498C-98F9-B3CD5794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67000"/>
            <a:ext cx="45529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A2444"/>
                </a:solidFill>
              </a:defRPr>
            </a:pPr>
            <a:r>
              <a:rPr sz="1650" b="0">
                <a:solidFill>
                  <a:srgbClr val="0A2444"/>
                </a:solidFill>
              </a:rPr>
              <a:t>Eight bids per tender.</a:t>
            </a:r>
          </a:p>
          <a:p xmlns:a="http://schemas.openxmlformats.org/drawingml/2006/main">
            <a:pPr>
              <a:defRPr sz="1650" b="0">
                <a:solidFill>
                  <a:srgbClr val="0A2444"/>
                </a:solidFill>
              </a:defRPr>
            </a:pPr>
            <a:r>
              <a:rPr sz="1650" b="0">
                <a:solidFill>
                  <a:srgbClr val="0A2444"/>
                </a:solidFill>
              </a:rPr>
              <a:t>Supplied keys do not prove real identity.</a:t>
            </a:r>
          </a:p>
          <a:p xmlns:a="http://schemas.openxmlformats.org/drawingml/2006/main">
            <a:pPr>
              <a:defRPr sz="1650" b="0">
                <a:solidFill>
                  <a:srgbClr val="0A2444"/>
                </a:solidFill>
              </a:defRPr>
            </a:pPr>
            <a:r>
              <a:rPr sz="1650" b="0">
                <a:solidFill>
                  <a:srgbClr val="0A2444"/>
                </a:solidFill>
              </a:rPr>
              <a:t>Evaluator witness handoff needs a trusted channel.</a:t>
            </a:r>
          </a:p>
          <a:p xmlns:a="http://schemas.openxmlformats.org/drawingml/2006/main">
            <a:pPr>
              <a:defRPr sz="1650" b="0">
                <a:solidFill>
                  <a:srgbClr val="0A2444"/>
                </a:solidFill>
              </a:defRPr>
            </a:pPr>
            <a:r>
              <a:rPr sz="1650" b="0">
                <a:solidFill>
                  <a:srgbClr val="0A2444"/>
                </a:solidFill>
              </a:rPr>
              <a:t>1AM proof preparation can take minutes.</a:t>
            </a:r>
          </a:p>
          <a:p xmlns:a="http://schemas.openxmlformats.org/drawingml/2006/main">
            <a:pPr>
              <a:defRPr sz="1650" b="0">
                <a:solidFill>
                  <a:srgbClr val="0A2444"/>
                </a:solidFill>
              </a:defRPr>
            </a:pPr>
            <a:r>
              <a:rPr sz="1650" b="0">
                <a:solidFill>
                  <a:srgbClr val="0A2444"/>
                </a:solidFill>
              </a:rPr>
              <a:t>No audit. No payment transfer.</a:t>
            </a:r>
          </a:p>
        </p:txBody>
      </p:sp>
      <p:sp>
        <p:nvSpPr>
          <p:cNvPr id="11" name="compile note">
            <a:extLst xmlns:a="http://schemas.openxmlformats.org/drawingml/2006/main">
              <a:ext uri="{FF2B5EF4-FFF2-40B4-BE49-F238E27FC236}">
                <a16:creationId xmlns:a16="http://schemas.microsoft.com/office/drawing/2014/main" id="{AEC8ED48-ACDB-48E4-9115-6D81935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55718D"/>
                </a:solidFill>
              </a:defRPr>
            </a:pPr>
            <a:r>
              <a:rPr sz="1575" b="1">
                <a:solidFill>
                  <a:srgbClr val="55718D"/>
                </a:solidFill>
              </a:rPr>
              <a:t>Run a fresh full Compact compile on a compatible builder for judging evidence. The static gate alone does not compile the contract.</a:t>
            </a:r>
          </a:p>
        </p:txBody>
      </p:sp>
    </p:spTree>
    <p:extLst>
      <p:ext uri="{BB962C8B-B14F-4D97-AF65-F5344CB8AC3E}">
        <p14:creationId xmlns:p14="http://schemas.microsoft.com/office/powerpoint/2010/main" val="9264786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E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C857EEB3-63CC-492B-B16D-CDF24373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0752A2"/>
                </a:solidFill>
              </a:defRPr>
            </a:pPr>
            <a:r>
              <a:rPr sz="1200" b="1">
                <a:solidFill>
                  <a:srgbClr val="0752A2"/>
                </a:solidFill>
              </a:rPr>
              <a:t>PRODUCT PATH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09E7C81-AC3C-4B5B-9699-B551645E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050" b="1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0A2444"/>
                </a:solidFill>
              </a:defRPr>
            </a:pPr>
            <a:r>
              <a:rPr sz="4050" b="1">
                <a:solidFill>
                  <a:srgbClr val="0A2444"/>
                </a:solidFill>
              </a:rPr>
              <a:t>A focused path to a real procurement pilot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BCE49B3-4386-40AE-8671-A337BB81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2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9C69FED-14B1-4FB5-B912-B4D2570E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5718D"/>
                </a:solidFill>
              </a:defRPr>
            </a:pPr>
            <a:r>
              <a:rPr sz="975" b="0">
                <a:solidFill>
                  <a:srgbClr val="55718D"/>
                </a:solidFill>
              </a:rPr>
              <a:t>AEGISBID  /  MIDNIGHT BUILDATHON  /  WAVE 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203DDD-89DD-4588-98A0-5D4CDEAE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5718D"/>
                </a:solidFill>
              </a:defRPr>
            </a:pPr>
            <a:r>
              <a:rPr sz="975" b="1">
                <a:solidFill>
                  <a:srgbClr val="55718D"/>
                </a:solidFill>
              </a:rPr>
              <a:t>07</a:t>
            </a:r>
          </a:p>
        </p:txBody>
      </p:sp>
      <p:sp>
        <p:nvSpPr>
          <p:cNvPr id="6" name="users label">
            <a:extLst xmlns:a="http://schemas.openxmlformats.org/drawingml/2006/main">
              <a:ext uri="{FF2B5EF4-FFF2-40B4-BE49-F238E27FC236}">
                <a16:creationId xmlns:a16="http://schemas.microsoft.com/office/drawing/2014/main" id="{41D02E4B-96CA-4830-B4EC-9CD51B71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752A2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0752A2"/>
                </a:solidFill>
              </a:defRPr>
            </a:pPr>
            <a:r>
              <a:rPr sz="1350" b="1">
                <a:solidFill>
                  <a:srgbClr val="0752A2"/>
                </a:solidFill>
              </a:rPr>
              <a:t>FIRST USERS</a:t>
            </a:r>
          </a:p>
        </p:txBody>
      </p:sp>
      <p:sp>
        <p:nvSpPr>
          <p:cNvPr id="7" name="users copy">
            <a:extLst xmlns:a="http://schemas.openxmlformats.org/drawingml/2006/main">
              <a:ext uri="{FF2B5EF4-FFF2-40B4-BE49-F238E27FC236}">
                <a16:creationId xmlns:a16="http://schemas.microsoft.com/office/drawing/2014/main" id="{EED5A827-5E15-48DF-ACCE-BBF0DAD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1019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0A2444"/>
                </a:solidFill>
              </a:defRPr>
            </a:pPr>
            <a:r>
              <a:rPr sz="2100" b="0">
                <a:solidFill>
                  <a:srgbClr val="0A2444"/>
                </a:solidFill>
              </a:rPr>
              <a:t>Public agencies and organizations that need confidential offers with a verifiable selection rule.</a:t>
            </a:r>
          </a:p>
        </p:txBody>
      </p:sp>
      <p:sp>
        <p:nvSpPr>
          <p:cNvPr id="8" name="rule1">
            <a:extLst xmlns:a="http://schemas.openxmlformats.org/drawingml/2006/main">
              <a:ext uri="{FF2B5EF4-FFF2-40B4-BE49-F238E27FC236}">
                <a16:creationId xmlns:a16="http://schemas.microsoft.com/office/drawing/2014/main" id="{2936269A-DFAB-4C44-99AA-5F4CA73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2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 label">
            <a:extLst xmlns:a="http://schemas.openxmlformats.org/drawingml/2006/main">
              <a:ext uri="{FF2B5EF4-FFF2-40B4-BE49-F238E27FC236}">
                <a16:creationId xmlns:a16="http://schemas.microsoft.com/office/drawing/2014/main" id="{74A56A1A-CDF8-49FA-BFB7-3E3547D9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26A97A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6A97A"/>
                </a:solidFill>
              </a:defRPr>
            </a:pPr>
            <a:r>
              <a:rPr sz="1350" b="1">
                <a:solidFill>
                  <a:srgbClr val="26A97A"/>
                </a:solidFill>
              </a:rPr>
              <a:t>PILOT PATH</a:t>
            </a:r>
          </a:p>
        </p:txBody>
      </p:sp>
      <p:sp>
        <p:nvSpPr>
          <p:cNvPr id="10" name="path copy">
            <a:extLst xmlns:a="http://schemas.openxmlformats.org/drawingml/2006/main">
              <a:ext uri="{FF2B5EF4-FFF2-40B4-BE49-F238E27FC236}">
                <a16:creationId xmlns:a16="http://schemas.microsoft.com/office/drawing/2014/main" id="{83969BB5-AD3B-48D2-BA35-4F115B19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0A2444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A2444"/>
                </a:solidFill>
              </a:defRPr>
            </a:pPr>
            <a:r>
              <a:rPr sz="1875" b="0">
                <a:solidFill>
                  <a:srgbClr val="0A2444"/>
                </a:solidFill>
              </a:rPr>
              <a:t>Work with one willing issuer on a low-risk, non-binding tender. Validate bidder onboarding and witness handoff first. Test closing and settlement end to end. Add payment or award integrations only after issuer workflow, security, and compliance review.</a:t>
            </a:r>
          </a:p>
        </p:txBody>
      </p:sp>
      <p:sp>
        <p:nvSpPr>
          <p:cNvPr id="11" name="closing">
            <a:extLst xmlns:a="http://schemas.openxmlformats.org/drawingml/2006/main">
              <a:ext uri="{FF2B5EF4-FFF2-40B4-BE49-F238E27FC236}">
                <a16:creationId xmlns:a16="http://schemas.microsoft.com/office/drawing/2014/main" id="{CCA8D30F-A96F-4C04-B03D-E6F1E252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55718D"/>
                </a:solidFill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55718D"/>
                </a:solidFill>
              </a:defRPr>
            </a:pPr>
            <a:r>
              <a:rPr sz="1350" b="1">
                <a:solidFill>
                  <a:srgbClr val="55718D"/>
                </a:solidFill>
              </a:rPr>
              <a:t>AegisBid proves the outcome. The issuer still awards and pays.</a:t>
            </a:r>
          </a:p>
        </p:txBody>
      </p:sp>
    </p:spTree>
    <p:extLst>
      <p:ext uri="{BB962C8B-B14F-4D97-AF65-F5344CB8AC3E}">
        <p14:creationId xmlns:p14="http://schemas.microsoft.com/office/powerpoint/2010/main" val="1679416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2026-10-09T14:05:53.8830000Z</dcterms:created>
  <dcterms:modified xsi:type="dcterms:W3CDTF">2026-10-09T14:05:53.8830000Z</dcterms:modified>
</coreProperties>
</file>