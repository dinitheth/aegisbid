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743dcf08b1444a4" /><Relationship Type="http://schemas.openxmlformats.org/officeDocument/2006/relationships/extended-properties" Target="/docProps/app.xml" Id="R19e083c204a2409a" /><Relationship Type="http://schemas.openxmlformats.org/officeDocument/2006/relationships/officeDocument" Target="/ppt/presentation.xml" Id="Rb1c0217dd0494a39" /></Relationships>
</file>

<file path=ppt/presentation.xml><?xml version="1.0" encoding="utf-8"?>
<p:presentation xmlns:p="http://schemas.openxmlformats.org/presentationml/2006/main">
  <p:sldMasterIdLst>
    <p:sldMasterId xmlns:r="http://schemas.openxmlformats.org/officeDocument/2006/relationships" id="2147483648" r:id="R590e7f0d44ed4333"/>
  </p:sldMasterIdLst>
  <p:notesMasterIdLst>
    <p:notesMasterId xmlns:r="http://schemas.openxmlformats.org/officeDocument/2006/relationships" r:id="R40ba13a7901d46c2"/>
  </p:notesMasterIdLst>
  <p:sldIdLst>
    <p:sldId xmlns:r="http://schemas.openxmlformats.org/officeDocument/2006/relationships" id="256" r:id="R6e27684b13974654"/>
    <p:sldId xmlns:r="http://schemas.openxmlformats.org/officeDocument/2006/relationships" id="257" r:id="R894f3b7ef52b4b89"/>
    <p:sldId xmlns:r="http://schemas.openxmlformats.org/officeDocument/2006/relationships" id="258" r:id="Re5eded2787b2439e"/>
    <p:sldId xmlns:r="http://schemas.openxmlformats.org/officeDocument/2006/relationships" id="259" r:id="R29c875e4c3c54484"/>
    <p:sldId xmlns:r="http://schemas.openxmlformats.org/officeDocument/2006/relationships" id="260" r:id="R5f1f8212e79149f3"/>
    <p:sldId xmlns:r="http://schemas.openxmlformats.org/officeDocument/2006/relationships" id="261" r:id="R72771747c2404553"/>
    <p:sldId xmlns:r="http://schemas.openxmlformats.org/officeDocument/2006/relationships" id="262" r:id="R687be6b83a274b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51dd8a18d95490e" /><Relationship Type="http://schemas.openxmlformats.org/officeDocument/2006/relationships/slideMaster" Target="/ppt/slideMasters/slideMaster1.xml" Id="R590e7f0d44ed4333" /><Relationship Type="http://schemas.openxmlformats.org/officeDocument/2006/relationships/notesMaster" Target="/ppt/notesMasters/notesMaster1.xml" Id="R40ba13a7901d46c2" /><Relationship Type="http://schemas.openxmlformats.org/officeDocument/2006/relationships/presProps" Target="/ppt/presProps.xml" Id="R9cd6357a294e46da" /><Relationship Type="http://schemas.openxmlformats.org/officeDocument/2006/relationships/tableStyles" Target="/ppt/tableStyles.xml" Id="Re1582abd3fb3412b" /><Relationship Type="http://schemas.openxmlformats.org/officeDocument/2006/relationships/slide" Target="/ppt/slides/slide1.xml" Id="R6e27684b13974654" /><Relationship Type="http://schemas.openxmlformats.org/officeDocument/2006/relationships/slide" Target="/ppt/slides/slide2.xml" Id="R894f3b7ef52b4b89" /><Relationship Type="http://schemas.openxmlformats.org/officeDocument/2006/relationships/slide" Target="/ppt/slides/slide3.xml" Id="Re5eded2787b2439e" /><Relationship Type="http://schemas.openxmlformats.org/officeDocument/2006/relationships/slide" Target="/ppt/slides/slide4.xml" Id="R29c875e4c3c54484" /><Relationship Type="http://schemas.openxmlformats.org/officeDocument/2006/relationships/slide" Target="/ppt/slides/slide5.xml" Id="R5f1f8212e79149f3" /><Relationship Type="http://schemas.openxmlformats.org/officeDocument/2006/relationships/slide" Target="/ppt/slides/slide6.xml" Id="R72771747c2404553" /><Relationship Type="http://schemas.openxmlformats.org/officeDocument/2006/relationships/slide" Target="/ppt/slides/slide7.xml" Id="R687be6b83a274b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544a49241545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cbee0b7eaa9456b" /><Relationship Type="http://schemas.openxmlformats.org/officeDocument/2006/relationships/notesMaster" Target="/ppt/notesMasters/notesMaster1.xml" Id="Rf1f23af860a6498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96bc40bf144a4f" /><Relationship Type="http://schemas.openxmlformats.org/officeDocument/2006/relationships/notesMaster" Target="/ppt/notesMasters/notesMaster1.xml" Id="Rd3e734eb47694b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60ec1dfaf6f4749" /><Relationship Type="http://schemas.openxmlformats.org/officeDocument/2006/relationships/notesMaster" Target="/ppt/notesMasters/notesMaster1.xml" Id="R1275e2f849d449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529b8a8f944dbb" /><Relationship Type="http://schemas.openxmlformats.org/officeDocument/2006/relationships/notesMaster" Target="/ppt/notesMasters/notesMaster1.xml" Id="Rccb6d03699e249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c90f70d19d468f" /><Relationship Type="http://schemas.openxmlformats.org/officeDocument/2006/relationships/notesMaster" Target="/ppt/notesMasters/notesMaster1.xml" Id="Rdd0a728fe6e647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0aa984a6a44250" /><Relationship Type="http://schemas.openxmlformats.org/officeDocument/2006/relationships/notesMaster" Target="/ppt/notesMasters/notesMaster1.xml" Id="R7029cf8554794c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4dafa4906d4992" /><Relationship Type="http://schemas.openxmlformats.org/officeDocument/2006/relationships/notesMaster" Target="/ppt/notesMasters/notesMaster1.xml" Id="Ree29b4fc1bee48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facts from the repository README and docs/MIDNIGHT_INTEGRATION.md. Match the team, demo, and video details to the current AKINDO entry. The current V2 contract does not prove complete-set optimality.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is a prototype. Avoid claiming that all bid data stays permanently on the bidder device: settlement witnesses are required by the evaluator. Event fit and criteria: https://app.akindo.io/wave-hacks/jaMZjqPOBsLXvjdG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Flow derived from contracts/aegis_bid_v2.compact and README.md. The issuer handles real-world award/payment separately.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and witnesses are named in contracts/aegis_bid_v2.compact. The UI and README describe encrypted witness-file handoff. Event criteria emphasize private state and dual-ledger understanding: https://app.akindo.io/wave-hacks/jaMZjqPOBsLXvjdG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facts from README.md, contracts/aegis_bid_v2.compact, managed/DEPLOYMENTS.md. Current target is a test network, not mainnet. Event engineering criterion: https://app.akindo.io/wave-hacks/jaMZjqPOBsLXvjdG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listed commands are package.json scripts. Project notes report an earlier Compact compile on a compatible Azure builder, but no reproducible compiler log is included here. A fresh full compile is required for judging evidence. The static check does not compile the contract and does not test complete-set uniqueness.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adoption path is a project proposal, not an existing customer commitment. Event viability criterion asks for target user and adoption path: https://app.akindo.io/wave-hacks/jaMZjqPOBsLXvjdG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fb1b196feb416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0662378ec834b6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8fbdc9672ba44f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91b9bfb4bc746c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b61009babe8491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7778b2f9b314d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69035E-6CC8-4462-9B90-B000F03DC9F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F70445D-54A9-4C57-BA25-49BDFDF21ED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9962AE5-9002-4324-9439-2EE582218F6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D3C7F8-88DC-4685-8BFB-65290BB3D2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A2EB15-AFAE-4309-9B78-DD947C0D816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D9D37D1-E08D-4492-8890-841A24CB27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AAB6943-87BF-431D-8F9A-417A95F3F4E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D9CE88F-8EEB-4846-BC91-89EF7838A13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0A2311-393B-425E-9F3A-61ABE80209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A6F24B-4F18-4497-8761-BE8FF0160E5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598dd2ce33d4dd5" /><Relationship Type="http://schemas.openxmlformats.org/officeDocument/2006/relationships/slideLayout" Target="/ppt/slideLayouts/slideLayout1.xml" Id="R5373e93d60f846bf" /><Relationship Type="http://schemas.openxmlformats.org/officeDocument/2006/relationships/slideLayout" Target="/ppt/slideLayouts/slideLayout2.xml" Id="R0fe1928ae962423a" /><Relationship Type="http://schemas.openxmlformats.org/officeDocument/2006/relationships/slideLayout" Target="/ppt/slideLayouts/slideLayout3.xml" Id="R4f9e793fa98b4a07" /><Relationship Type="http://schemas.openxmlformats.org/officeDocument/2006/relationships/slideLayout" Target="/ppt/slideLayouts/slideLayout4.xml" Id="R7bf07b10107b4902" /><Relationship Type="http://schemas.openxmlformats.org/officeDocument/2006/relationships/slideLayout" Target="/ppt/slideLayouts/slideLayout5.xml" Id="R1725d5a627454fdd" /><Relationship Type="http://schemas.openxmlformats.org/officeDocument/2006/relationships/slideLayout" Target="/ppt/slideLayouts/slideLayout6.xml" Id="R0498b9e1150f424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73e93d60f846bf"/>
    <p:sldLayoutId xmlns:r="http://schemas.openxmlformats.org/officeDocument/2006/relationships" id="2147483650" r:id="R0fe1928ae962423a"/>
    <p:sldLayoutId xmlns:r="http://schemas.openxmlformats.org/officeDocument/2006/relationships" id="2147483651" r:id="R4f9e793fa98b4a07"/>
    <p:sldLayoutId xmlns:r="http://schemas.openxmlformats.org/officeDocument/2006/relationships" id="2147483652" r:id="R7bf07b10107b4902"/>
    <p:sldLayoutId xmlns:r="http://schemas.openxmlformats.org/officeDocument/2006/relationships" id="2147483653" r:id="R1725d5a627454fdd"/>
    <p:sldLayoutId xmlns:r="http://schemas.openxmlformats.org/officeDocument/2006/relationships" id="2147483654" r:id="R0498b9e1150f424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5137992ef444c6c" /><Relationship Type="http://schemas.openxmlformats.org/officeDocument/2006/relationships/notesSlide" Target="/ppt/notesSlides/notesSlide1.xml" Id="R12dc1b4f99194c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2eea5e8903048ad" /><Relationship Type="http://schemas.openxmlformats.org/officeDocument/2006/relationships/notesSlide" Target="/ppt/notesSlides/notesSlide2.xml" Id="Rcd17c2b52b1c40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fd2695721564146" /><Relationship Type="http://schemas.openxmlformats.org/officeDocument/2006/relationships/notesSlide" Target="/ppt/notesSlides/notesSlide3.xml" Id="R115f5c496eca4b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c1125b8ca794bed" /><Relationship Type="http://schemas.openxmlformats.org/officeDocument/2006/relationships/notesSlide" Target="/ppt/notesSlides/notesSlide4.xml" Id="Rcbaa455ac98a48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e890514cbe74816" /><Relationship Type="http://schemas.openxmlformats.org/officeDocument/2006/relationships/notesSlide" Target="/ppt/notesSlides/notesSlide5.xml" Id="Ra2e1a1098860497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1b909c9ccd548e0" /><Relationship Type="http://schemas.openxmlformats.org/officeDocument/2006/relationships/notesSlide" Target="/ppt/notesSlides/notesSlide6.xml" Id="R5d7fb59117764f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79db63d6ecd48bf" /><Relationship Type="http://schemas.openxmlformats.org/officeDocument/2006/relationships/notesSlide" Target="/ppt/notesSlides/notesSlide7.xml" Id="R01425d4a09524c3a" /></Relationships>
</file>

<file path=ppt/slides/slide1.xml><?xml version="1.0" encoding="utf-8"?>
<p:sld xmlns:p="http://schemas.openxmlformats.org/presentationml/2006/main">
  <p:cSld>
    <p:bg>
      <p:bgPr>
        <a:solidFill xmlns:a="http://schemas.openxmlformats.org/drawingml/2006/main">
          <a:srgbClr val="0A2444"/>
        </a:solidFill>
      </p:bgPr>
    </p:bg>
    <p:spTree>
      <p:nvGrpSpPr>
        <p:cNvPr id="1" name=""/>
        <p:cNvGrpSpPr/>
        <p:nvPr/>
      </p:nvGrpSpPr>
      <p:grpSpPr>
        <a:xfrm xmlns:a="http://schemas.openxmlformats.org/drawingml/2006/main"/>
      </p:grpSpPr>
      <p:sp>
        <p:nvSpPr>
          <p:cNvPr id="7" name="mint accent">
            <a:extLst xmlns:a="http://schemas.openxmlformats.org/drawingml/2006/main">
              <a:ext uri="{FF2B5EF4-FFF2-40B4-BE49-F238E27FC236}">
                <a16:creationId xmlns:a16="http://schemas.microsoft.com/office/drawing/2014/main" id="{7A77B1E2-36D6-40DE-BD00-A092D03A1E1E}"/>
              </a:ext>
            </a:extLst>
          </p:cNvPr>
          <p:cNvSpPr>
            <a:spLocks xmlns:a="http://schemas.openxmlformats.org/drawingml/2006/main" noGrp="1"/>
          </p:cNvSpPr>
          <p:nvPr/>
        </p:nvSpPr>
        <p:spPr>
          <a:xfrm xmlns:a="http://schemas.openxmlformats.org/drawingml/2006/main">
            <a:off x="762000" y="857250"/>
            <a:ext cx="10668000" cy="57150"/>
          </a:xfrm>
          <a:prstGeom xmlns:a="http://schemas.openxmlformats.org/drawingml/2006/main" prst="rect">
            <a:avLst/>
          </a:prstGeom>
          <a:solidFill xmlns:a="http://schemas.openxmlformats.org/drawingml/2006/main">
            <a:srgbClr val="26A97A"/>
          </a:solidFill>
          <a:ln xmlns:a="http://schemas.openxmlformats.org/drawingml/2006/main" w="0">
            <a:noFill/>
            <a:prstDash val="solid"/>
          </a:ln>
        </p:spPr>
      </p:sp>
      <p:sp>
        <p:nvSpPr>
          <p:cNvPr id="2" name="eyebrow">
            <a:extLst xmlns:a="http://schemas.openxmlformats.org/drawingml/2006/main">
              <a:ext uri="{FF2B5EF4-FFF2-40B4-BE49-F238E27FC236}">
                <a16:creationId xmlns:a16="http://schemas.microsoft.com/office/drawing/2014/main" id="{164DBBAD-5350-44D4-8CC1-D43F12036D2F}"/>
              </a:ext>
            </a:extLst>
          </p:cNvPr>
          <p:cNvSpPr>
            <a:spLocks xmlns:a="http://schemas.openxmlformats.org/drawingml/2006/main" noGrp="1"/>
          </p:cNvSpPr>
          <p:nvPr/>
        </p:nvSpPr>
        <p:spPr>
          <a:xfrm xmlns:a="http://schemas.openxmlformats.org/drawingml/2006/main">
            <a:off x="762000" y="13525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A9D9F0"/>
                </a:solidFill>
              </a:defRPr>
            </a:defPPr>
          </a:lstStyle>
          <a:p xmlns:a="http://schemas.openxmlformats.org/drawingml/2006/main">
            <a:pPr>
              <a:buNone/>
              <a:defRPr sz="1350" b="1">
                <a:solidFill>
                  <a:srgbClr val="A9D9F0"/>
                </a:solidFill>
              </a:defRPr>
            </a:pPr>
            <a:r>
              <a:rPr sz="1350" b="1">
                <a:solidFill>
                  <a:srgbClr val="A9D9F0"/>
                </a:solidFill>
              </a:rPr>
              <a:t>MIDNIGHT BUILDATHON  /  WAVE 2</a:t>
            </a:r>
          </a:p>
        </p:txBody>
      </p:sp>
      <p:sp>
        <p:nvSpPr>
          <p:cNvPr id="3" name="title">
            <a:extLst xmlns:a="http://schemas.openxmlformats.org/drawingml/2006/main">
              <a:ext uri="{FF2B5EF4-FFF2-40B4-BE49-F238E27FC236}">
                <a16:creationId xmlns:a16="http://schemas.microsoft.com/office/drawing/2014/main" id="{F83543C8-9D4B-472B-94B4-AE571BCA8F3C}"/>
              </a:ext>
            </a:extLst>
          </p:cNvPr>
          <p:cNvSpPr>
            <a:spLocks xmlns:a="http://schemas.openxmlformats.org/drawingml/2006/main" noGrp="1"/>
          </p:cNvSpPr>
          <p:nvPr/>
        </p:nvSpPr>
        <p:spPr>
          <a:xfrm xmlns:a="http://schemas.openxmlformats.org/drawingml/2006/main">
            <a:off x="762000" y="2190750"/>
            <a:ext cx="10477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6450" b="1">
                <a:solidFill>
                  <a:srgbClr val="FFFFFF"/>
                </a:solidFill>
              </a:defRPr>
            </a:defPPr>
          </a:lstStyle>
          <a:p xmlns:a="http://schemas.openxmlformats.org/drawingml/2006/main">
            <a:pPr>
              <a:buNone/>
              <a:defRPr sz="6450" b="1">
                <a:solidFill>
                  <a:srgbClr val="FFFFFF"/>
                </a:solidFill>
              </a:defRPr>
            </a:pPr>
            <a:r>
              <a:rPr sz="6450" b="1">
                <a:solidFill>
                  <a:srgbClr val="FFFFFF"/>
                </a:solidFill>
              </a:rPr>
              <a:t>AegisBid</a:t>
            </a:r>
          </a:p>
        </p:txBody>
      </p:sp>
      <p:sp>
        <p:nvSpPr>
          <p:cNvPr id="4" name="subtitle">
            <a:extLst xmlns:a="http://schemas.openxmlformats.org/drawingml/2006/main">
              <a:ext uri="{FF2B5EF4-FFF2-40B4-BE49-F238E27FC236}">
                <a16:creationId xmlns:a16="http://schemas.microsoft.com/office/drawing/2014/main" id="{4D0FCAF7-1C21-4553-94A5-79AC81301C98}"/>
              </a:ext>
            </a:extLst>
          </p:cNvPr>
          <p:cNvSpPr>
            <a:spLocks xmlns:a="http://schemas.openxmlformats.org/drawingml/2006/main" noGrp="1"/>
          </p:cNvSpPr>
          <p:nvPr/>
        </p:nvSpPr>
        <p:spPr>
          <a:xfrm xmlns:a="http://schemas.openxmlformats.org/drawingml/2006/main">
            <a:off x="762000" y="3429000"/>
            <a:ext cx="10096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000" b="0">
                <a:solidFill>
                  <a:srgbClr val="D7EAF6"/>
                </a:solidFill>
              </a:defRPr>
            </a:defPPr>
          </a:lstStyle>
          <a:p xmlns:a="http://schemas.openxmlformats.org/drawingml/2006/main">
            <a:pPr>
              <a:buNone/>
              <a:defRPr sz="3000" b="0">
                <a:solidFill>
                  <a:srgbClr val="D7EAF6"/>
                </a:solidFill>
              </a:defRPr>
            </a:pPr>
            <a:r>
              <a:rPr sz="3000" b="0">
                <a:solidFill>
                  <a:srgbClr val="D7EAF6"/>
                </a:solidFill>
              </a:rPr>
              <a:t>Private offers.</a:t>
            </a:r>
          </a:p>
          <a:p xmlns:a="http://schemas.openxmlformats.org/drawingml/2006/main">
            <a:pPr>
              <a:buNone/>
              <a:defRPr sz="3000" b="0">
                <a:solidFill>
                  <a:srgbClr val="D7EAF6"/>
                </a:solidFill>
              </a:defRPr>
            </a:pPr>
            <a:r>
              <a:rPr sz="3000" b="0">
                <a:solidFill>
                  <a:srgbClr val="D7EAF6"/>
                </a:solidFill>
              </a:rPr>
              <a:t>A public settlement receipt.</a:t>
            </a:r>
          </a:p>
        </p:txBody>
      </p:sp>
      <p:sp>
        <p:nvSpPr>
          <p:cNvPr id="5" name="description">
            <a:extLst xmlns:a="http://schemas.openxmlformats.org/drawingml/2006/main">
              <a:ext uri="{FF2B5EF4-FFF2-40B4-BE49-F238E27FC236}">
                <a16:creationId xmlns:a16="http://schemas.microsoft.com/office/drawing/2014/main" id="{782D9E83-F4F3-4597-9573-D15D251EC9F6}"/>
              </a:ext>
            </a:extLst>
          </p:cNvPr>
          <p:cNvSpPr>
            <a:spLocks xmlns:a="http://schemas.openxmlformats.org/drawingml/2006/main" noGrp="1"/>
          </p:cNvSpPr>
          <p:nvPr/>
        </p:nvSpPr>
        <p:spPr>
          <a:xfrm xmlns:a="http://schemas.openxmlformats.org/drawingml/2006/main">
            <a:off x="762000" y="51816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A9D9F0"/>
                </a:solidFill>
              </a:defRPr>
            </a:defPPr>
          </a:lstStyle>
          <a:p xmlns:a="http://schemas.openxmlformats.org/drawingml/2006/main">
            <a:pPr>
              <a:buNone/>
              <a:defRPr sz="1725" b="0">
                <a:solidFill>
                  <a:srgbClr val="A9D9F0"/>
                </a:solidFill>
              </a:defRPr>
            </a:pPr>
            <a:r>
              <a:rPr sz="1725" b="0">
                <a:solidFill>
                  <a:srgbClr val="A9D9F0"/>
                </a:solidFill>
              </a:rPr>
              <a:t>A sealed-tender prototype built on Midnight Preprod</a:t>
            </a:r>
          </a:p>
        </p:txBody>
      </p:sp>
      <p:sp>
        <p:nvSpPr>
          <p:cNvPr id="6" name="repo">
            <a:extLst xmlns:a="http://schemas.openxmlformats.org/drawingml/2006/main">
              <a:ext uri="{FF2B5EF4-FFF2-40B4-BE49-F238E27FC236}">
                <a16:creationId xmlns:a16="http://schemas.microsoft.com/office/drawing/2014/main" id="{292E9FC2-B23A-48D9-8859-0C977E14BC08}"/>
              </a:ext>
            </a:extLst>
          </p:cNvPr>
          <p:cNvSpPr>
            <a:spLocks xmlns:a="http://schemas.openxmlformats.org/drawingml/2006/main" noGrp="1"/>
          </p:cNvSpPr>
          <p:nvPr/>
        </p:nvSpPr>
        <p:spPr>
          <a:xfrm xmlns:a="http://schemas.openxmlformats.org/drawingml/2006/main">
            <a:off x="762000" y="6000750"/>
            <a:ext cx="990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B8CAD9"/>
                </a:solidFill>
              </a:defRPr>
            </a:defPPr>
          </a:lstStyle>
          <a:p xmlns:a="http://schemas.openxmlformats.org/drawingml/2006/main">
            <a:pPr>
              <a:buNone/>
              <a:defRPr sz="1200" b="0">
                <a:solidFill>
                  <a:srgbClr val="B8CAD9"/>
                </a:solidFill>
              </a:defRPr>
            </a:pPr>
            <a:r>
              <a:rPr sz="1200" b="0">
                <a:solidFill>
                  <a:srgbClr val="B8CAD9"/>
                </a:solidFill>
              </a:rPr>
              <a:t>github.com/dinitheth/AegisBid    ·    October 2026</a:t>
            </a:r>
          </a:p>
        </p:txBody>
      </p:sp>
    </p:spTree>
    <p:extLst>
      <p:ext uri="{BB962C8B-B14F-4D97-AF65-F5344CB8AC3E}">
        <p14:creationId xmlns:p14="http://schemas.microsoft.com/office/powerpoint/2010/main" val="872477025"/>
      </p:ext>
    </p:extLst>
  </p:cSld>
</p:sld>
</file>

<file path=ppt/slides/slide2.xml><?xml version="1.0" encoding="utf-8"?>
<p:sld xmlns:p="http://schemas.openxmlformats.org/presentationml/2006/main">
  <p:cSld>
    <p:bg>
      <p:bgPr>
        <a:solidFill xmlns:a="http://schemas.openxmlformats.org/drawingml/2006/main">
          <a:srgbClr val="FCFEFF"/>
        </a:solidFill>
      </p:bgPr>
    </p:bg>
    <p:spTree>
      <p:nvGrpSpPr>
        <p:cNvPr id="1" name=""/>
        <p:cNvGrpSpPr/>
        <p:nvPr/>
      </p:nvGrpSpPr>
      <p:grpSpPr>
        <a:xfrm xmlns:a="http://schemas.openxmlformats.org/drawingml/2006/main"/>
      </p:grpSpPr>
      <p:sp>
        <p:nvSpPr>
          <p:cNvPr id="12" name="section">
            <a:extLst xmlns:a="http://schemas.openxmlformats.org/drawingml/2006/main">
              <a:ext uri="{FF2B5EF4-FFF2-40B4-BE49-F238E27FC236}">
                <a16:creationId xmlns:a16="http://schemas.microsoft.com/office/drawing/2014/main" id="{9022BB31-3D69-4CF1-B435-B4C148C6A864}"/>
              </a:ext>
            </a:extLst>
          </p:cNvPr>
          <p:cNvSpPr>
            <a:spLocks xmlns:a="http://schemas.openxmlformats.org/drawingml/2006/main" noGrp="1"/>
          </p:cNvSpPr>
          <p:nvPr/>
        </p:nvSpPr>
        <p:spPr>
          <a:xfrm xmlns:a="http://schemas.openxmlformats.org/drawingml/2006/main">
            <a:off x="685800" y="400050"/>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0752A2"/>
                </a:solidFill>
              </a:defRPr>
            </a:defPPr>
          </a:lstStyle>
          <a:p xmlns:a="http://schemas.openxmlformats.org/drawingml/2006/main">
            <a:pPr>
              <a:buNone/>
              <a:defRPr sz="1200" b="1">
                <a:solidFill>
                  <a:srgbClr val="0752A2"/>
                </a:solidFill>
              </a:defRPr>
            </a:pPr>
            <a:r>
              <a:rPr sz="1200" b="1">
                <a:solidFill>
                  <a:srgbClr val="0752A2"/>
                </a:solidFill>
              </a:rPr>
              <a:t>PROBLEM AND MIDNIGHT FIT</a:t>
            </a:r>
          </a:p>
        </p:txBody>
      </p:sp>
      <p:sp>
        <p:nvSpPr>
          <p:cNvPr id="2" name="title">
            <a:extLst xmlns:a="http://schemas.openxmlformats.org/drawingml/2006/main">
              <a:ext uri="{FF2B5EF4-FFF2-40B4-BE49-F238E27FC236}">
                <a16:creationId xmlns:a16="http://schemas.microsoft.com/office/drawing/2014/main" id="{A9FB95BE-A1FA-4344-A379-67A21E233D77}"/>
              </a:ext>
            </a:extLst>
          </p:cNvPr>
          <p:cNvSpPr>
            <a:spLocks xmlns:a="http://schemas.openxmlformats.org/drawingml/2006/main" noGrp="1"/>
          </p:cNvSpPr>
          <p:nvPr/>
        </p:nvSpPr>
        <p:spPr>
          <a:xfrm xmlns:a="http://schemas.openxmlformats.org/drawingml/2006/main">
            <a:off x="685800" y="781050"/>
            <a:ext cx="10820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0A2444"/>
                </a:solidFill>
              </a:defRPr>
            </a:defPPr>
          </a:lstStyle>
          <a:p xmlns:a="http://schemas.openxmlformats.org/drawingml/2006/main">
            <a:pPr>
              <a:buNone/>
              <a:defRPr sz="4050" b="1">
                <a:solidFill>
                  <a:srgbClr val="0A2444"/>
                </a:solidFill>
              </a:defRPr>
            </a:pPr>
            <a:r>
              <a:rPr sz="4050" b="1">
                <a:solidFill>
                  <a:srgbClr val="0A2444"/>
                </a:solidFill>
              </a:rPr>
              <a:t>Tender decisions need privacy and proof</a:t>
            </a:r>
          </a:p>
        </p:txBody>
      </p:sp>
      <p:sp>
        <p:nvSpPr>
          <p:cNvPr id="3" name="rule">
            <a:extLst xmlns:a="http://schemas.openxmlformats.org/drawingml/2006/main">
              <a:ext uri="{FF2B5EF4-FFF2-40B4-BE49-F238E27FC236}">
                <a16:creationId xmlns:a16="http://schemas.microsoft.com/office/drawing/2014/main" id="{628AF999-2611-4F2B-89CE-1129C3B4E679}"/>
              </a:ext>
            </a:extLst>
          </p:cNvPr>
          <p:cNvSpPr>
            <a:spLocks xmlns:a="http://schemas.openxmlformats.org/drawingml/2006/main" noGrp="1"/>
          </p:cNvSpPr>
          <p:nvPr/>
        </p:nvSpPr>
        <p:spPr>
          <a:xfrm xmlns:a="http://schemas.openxmlformats.org/drawingml/2006/main">
            <a:off x="685800" y="1657350"/>
            <a:ext cx="10820400" cy="28575"/>
          </a:xfrm>
          <a:prstGeom xmlns:a="http://schemas.openxmlformats.org/drawingml/2006/main" prst="rect">
            <a:avLst/>
          </a:prstGeom>
          <a:solidFill xmlns:a="http://schemas.openxmlformats.org/drawingml/2006/main">
            <a:srgbClr val="0752A2"/>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069783C8-2CCE-4105-B8CD-54D2078935C6}"/>
              </a:ext>
            </a:extLst>
          </p:cNvPr>
          <p:cNvSpPr>
            <a:spLocks xmlns:a="http://schemas.openxmlformats.org/drawingml/2006/main" noGrp="1"/>
          </p:cNvSpPr>
          <p:nvPr/>
        </p:nvSpPr>
        <p:spPr>
          <a:xfrm xmlns:a="http://schemas.openxmlformats.org/drawingml/2006/main">
            <a:off x="685800" y="6419850"/>
            <a:ext cx="923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0">
                <a:solidFill>
                  <a:srgbClr val="55718D"/>
                </a:solidFill>
              </a:defRPr>
            </a:defPPr>
          </a:lstStyle>
          <a:p xmlns:a="http://schemas.openxmlformats.org/drawingml/2006/main">
            <a:pPr>
              <a:buNone/>
              <a:defRPr sz="975" b="0">
                <a:solidFill>
                  <a:srgbClr val="55718D"/>
                </a:solidFill>
              </a:defRPr>
            </a:pPr>
            <a:r>
              <a:rPr sz="975" b="0">
                <a:solidFill>
                  <a:srgbClr val="55718D"/>
                </a:solidFill>
              </a:rPr>
              <a:t>AEGISBID  /  MIDNIGHT BUILDATHON  /  WAVE 2</a:t>
            </a:r>
          </a:p>
        </p:txBody>
      </p:sp>
      <p:sp>
        <p:nvSpPr>
          <p:cNvPr id="5" name="page">
            <a:extLst xmlns:a="http://schemas.openxmlformats.org/drawingml/2006/main">
              <a:ext uri="{FF2B5EF4-FFF2-40B4-BE49-F238E27FC236}">
                <a16:creationId xmlns:a16="http://schemas.microsoft.com/office/drawing/2014/main" id="{AFAF2810-3CEC-4EAF-AC0B-2B9876B5D675}"/>
              </a:ext>
            </a:extLst>
          </p:cNvPr>
          <p:cNvSpPr>
            <a:spLocks xmlns:a="http://schemas.openxmlformats.org/drawingml/2006/main" noGrp="1"/>
          </p:cNvSpPr>
          <p:nvPr/>
        </p:nvSpPr>
        <p:spPr>
          <a:xfrm xmlns:a="http://schemas.openxmlformats.org/drawingml/2006/main">
            <a:off x="10858500" y="6419850"/>
            <a:ext cx="647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55718D"/>
                </a:solidFill>
              </a:defRPr>
            </a:defPPr>
          </a:lstStyle>
          <a:p xmlns:a="http://schemas.openxmlformats.org/drawingml/2006/main">
            <a:pPr>
              <a:buNone/>
              <a:defRPr sz="975" b="1">
                <a:solidFill>
                  <a:srgbClr val="55718D"/>
                </a:solidFill>
              </a:defRPr>
            </a:pPr>
            <a:r>
              <a:rPr sz="975" b="1">
                <a:solidFill>
                  <a:srgbClr val="55718D"/>
                </a:solidFill>
              </a:rPr>
              <a:t>02</a:t>
            </a:r>
          </a:p>
        </p:txBody>
      </p:sp>
      <p:sp>
        <p:nvSpPr>
          <p:cNvPr id="6" name="left label">
            <a:extLst xmlns:a="http://schemas.openxmlformats.org/drawingml/2006/main">
              <a:ext uri="{FF2B5EF4-FFF2-40B4-BE49-F238E27FC236}">
                <a16:creationId xmlns:a16="http://schemas.microsoft.com/office/drawing/2014/main" id="{06B5E8FE-64CC-4A5A-8ED6-B2C9702C62D9}"/>
              </a:ext>
            </a:extLst>
          </p:cNvPr>
          <p:cNvSpPr>
            <a:spLocks xmlns:a="http://schemas.openxmlformats.org/drawingml/2006/main" noGrp="1"/>
          </p:cNvSpPr>
          <p:nvPr/>
        </p:nvSpPr>
        <p:spPr>
          <a:xfrm xmlns:a="http://schemas.openxmlformats.org/drawingml/2006/main">
            <a:off x="781050" y="20764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0752A2"/>
                </a:solidFill>
              </a:defRPr>
            </a:defPPr>
          </a:lstStyle>
          <a:p xmlns:a="http://schemas.openxmlformats.org/drawingml/2006/main">
            <a:pPr>
              <a:buNone/>
              <a:defRPr sz="1350" b="1">
                <a:solidFill>
                  <a:srgbClr val="0752A2"/>
                </a:solidFill>
              </a:defRPr>
            </a:pPr>
            <a:r>
              <a:rPr sz="1350" b="1">
                <a:solidFill>
                  <a:srgbClr val="0752A2"/>
                </a:solidFill>
              </a:rPr>
              <a:t>THE TENSION</a:t>
            </a:r>
          </a:p>
        </p:txBody>
      </p:sp>
      <p:sp>
        <p:nvSpPr>
          <p:cNvPr id="7" name="left copy">
            <a:extLst xmlns:a="http://schemas.openxmlformats.org/drawingml/2006/main">
              <a:ext uri="{FF2B5EF4-FFF2-40B4-BE49-F238E27FC236}">
                <a16:creationId xmlns:a16="http://schemas.microsoft.com/office/drawing/2014/main" id="{CE6118B5-9C42-416B-8A96-042D767FD117}"/>
              </a:ext>
            </a:extLst>
          </p:cNvPr>
          <p:cNvSpPr>
            <a:spLocks xmlns:a="http://schemas.openxmlformats.org/drawingml/2006/main" noGrp="1"/>
          </p:cNvSpPr>
          <p:nvPr/>
        </p:nvSpPr>
        <p:spPr>
          <a:xfrm xmlns:a="http://schemas.openxmlformats.org/drawingml/2006/main">
            <a:off x="781050" y="2619375"/>
            <a:ext cx="4524375"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0">
                <a:solidFill>
                  <a:srgbClr val="0A2444"/>
                </a:solidFill>
              </a:defRPr>
            </a:defPPr>
          </a:lstStyle>
          <a:p xmlns:a="http://schemas.openxmlformats.org/drawingml/2006/main">
            <a:pPr>
              <a:buNone/>
              <a:defRPr sz="2025" b="0">
                <a:solidFill>
                  <a:srgbClr val="0A2444"/>
                </a:solidFill>
              </a:defRPr>
            </a:pPr>
            <a:r>
              <a:rPr sz="2025" b="0">
                <a:solidFill>
                  <a:srgbClr val="0A2444"/>
                </a:solidFill>
              </a:rPr>
              <a:t>On-chain offers can expose sensitive prices.</a:t>
            </a:r>
          </a:p>
          <a:p xmlns:a="http://schemas.openxmlformats.org/drawingml/2006/main">
            <a:r>
              <a:t/>
            </a:r>
          </a:p>
          <a:p xmlns:a="http://schemas.openxmlformats.org/drawingml/2006/main">
            <a:pPr>
              <a:buNone/>
              <a:defRPr sz="2025" b="0">
                <a:solidFill>
                  <a:srgbClr val="0A2444"/>
                </a:solidFill>
              </a:defRPr>
            </a:pPr>
            <a:r>
              <a:rPr sz="2025" b="0">
                <a:solidFill>
                  <a:srgbClr val="0A2444"/>
                </a:solidFill>
              </a:rPr>
              <a:t>Off-chain tenders keep prices private, but participants must trust the evaluator.</a:t>
            </a:r>
          </a:p>
        </p:txBody>
      </p:sp>
      <p:sp>
        <p:nvSpPr>
          <p:cNvPr id="8" name="divider">
            <a:extLst xmlns:a="http://schemas.openxmlformats.org/drawingml/2006/main">
              <a:ext uri="{FF2B5EF4-FFF2-40B4-BE49-F238E27FC236}">
                <a16:creationId xmlns:a16="http://schemas.microsoft.com/office/drawing/2014/main" id="{16864F71-5EE7-4036-813F-80D3F97DBBB4}"/>
              </a:ext>
            </a:extLst>
          </p:cNvPr>
          <p:cNvSpPr>
            <a:spLocks xmlns:a="http://schemas.openxmlformats.org/drawingml/2006/main" noGrp="1"/>
          </p:cNvSpPr>
          <p:nvPr/>
        </p:nvSpPr>
        <p:spPr>
          <a:xfrm xmlns:a="http://schemas.openxmlformats.org/drawingml/2006/main">
            <a:off x="5943600" y="2114550"/>
            <a:ext cx="19050" cy="3143250"/>
          </a:xfrm>
          <a:prstGeom xmlns:a="http://schemas.openxmlformats.org/drawingml/2006/main" prst="rect">
            <a:avLst/>
          </a:prstGeom>
          <a:solidFill xmlns:a="http://schemas.openxmlformats.org/drawingml/2006/main">
            <a:srgbClr val="BBD2E4"/>
          </a:solidFill>
          <a:ln xmlns:a="http://schemas.openxmlformats.org/drawingml/2006/main" w="0">
            <a:noFill/>
            <a:prstDash val="solid"/>
          </a:ln>
        </p:spPr>
      </p:sp>
      <p:sp>
        <p:nvSpPr>
          <p:cNvPr id="9" name="right label">
            <a:extLst xmlns:a="http://schemas.openxmlformats.org/drawingml/2006/main">
              <a:ext uri="{FF2B5EF4-FFF2-40B4-BE49-F238E27FC236}">
                <a16:creationId xmlns:a16="http://schemas.microsoft.com/office/drawing/2014/main" id="{DDFCE9A9-32B7-4BB0-A4DD-E243F98CDB0B}"/>
              </a:ext>
            </a:extLst>
          </p:cNvPr>
          <p:cNvSpPr>
            <a:spLocks xmlns:a="http://schemas.openxmlformats.org/drawingml/2006/main" noGrp="1"/>
          </p:cNvSpPr>
          <p:nvPr/>
        </p:nvSpPr>
        <p:spPr>
          <a:xfrm xmlns:a="http://schemas.openxmlformats.org/drawingml/2006/main">
            <a:off x="6477000" y="20764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26A97A"/>
                </a:solidFill>
              </a:defRPr>
            </a:defPPr>
          </a:lstStyle>
          <a:p xmlns:a="http://schemas.openxmlformats.org/drawingml/2006/main">
            <a:pPr>
              <a:buNone/>
              <a:defRPr sz="1350" b="1">
                <a:solidFill>
                  <a:srgbClr val="26A97A"/>
                </a:solidFill>
              </a:defRPr>
            </a:pPr>
            <a:r>
              <a:rPr sz="1350" b="1">
                <a:solidFill>
                  <a:srgbClr val="26A97A"/>
                </a:solidFill>
              </a:rPr>
              <a:t>AEGISBID ON MIDNIGHT</a:t>
            </a:r>
          </a:p>
        </p:txBody>
      </p:sp>
      <p:sp>
        <p:nvSpPr>
          <p:cNvPr id="10" name="right copy">
            <a:extLst xmlns:a="http://schemas.openxmlformats.org/drawingml/2006/main">
              <a:ext uri="{FF2B5EF4-FFF2-40B4-BE49-F238E27FC236}">
                <a16:creationId xmlns:a16="http://schemas.microsoft.com/office/drawing/2014/main" id="{F35EBE92-2262-49A2-A021-5A7F3714E541}"/>
              </a:ext>
            </a:extLst>
          </p:cNvPr>
          <p:cNvSpPr>
            <a:spLocks xmlns:a="http://schemas.openxmlformats.org/drawingml/2006/main" noGrp="1"/>
          </p:cNvSpPr>
          <p:nvPr/>
        </p:nvSpPr>
        <p:spPr>
          <a:xfrm xmlns:a="http://schemas.openxmlformats.org/drawingml/2006/main">
            <a:off x="6477000" y="2619375"/>
            <a:ext cx="49530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0">
                <a:solidFill>
                  <a:srgbClr val="0A2444"/>
                </a:solidFill>
              </a:defRPr>
            </a:defPPr>
          </a:lstStyle>
          <a:p xmlns:a="http://schemas.openxmlformats.org/drawingml/2006/main">
            <a:pPr>
              <a:buNone/>
              <a:defRPr sz="2025" b="0">
                <a:solidFill>
                  <a:srgbClr val="0A2444"/>
                </a:solidFill>
              </a:defRPr>
            </a:pPr>
            <a:r>
              <a:rPr sz="2025" b="0">
                <a:solidFill>
                  <a:srgbClr val="0A2444"/>
                </a:solidFill>
              </a:rPr>
              <a:t>Bidders commit to offers without publishing their values. After closing, the Compact circuit checks supplied witnesses against commitments and applies the price rule. V2 does not ensure every committed bid is represented.</a:t>
            </a:r>
          </a:p>
        </p:txBody>
      </p:sp>
      <p:sp>
        <p:nvSpPr>
          <p:cNvPr id="11" name="bottom">
            <a:extLst xmlns:a="http://schemas.openxmlformats.org/drawingml/2006/main">
              <a:ext uri="{FF2B5EF4-FFF2-40B4-BE49-F238E27FC236}">
                <a16:creationId xmlns:a16="http://schemas.microsoft.com/office/drawing/2014/main" id="{607E67BD-B2AD-4CAE-B0D1-1662F45240E2}"/>
              </a:ext>
            </a:extLst>
          </p:cNvPr>
          <p:cNvSpPr>
            <a:spLocks xmlns:a="http://schemas.openxmlformats.org/drawingml/2006/main" noGrp="1"/>
          </p:cNvSpPr>
          <p:nvPr/>
        </p:nvSpPr>
        <p:spPr>
          <a:xfrm xmlns:a="http://schemas.openxmlformats.org/drawingml/2006/main">
            <a:off x="781050" y="5410200"/>
            <a:ext cx="1038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55718D"/>
                </a:solidFill>
              </a:defRPr>
            </a:defPPr>
          </a:lstStyle>
          <a:p xmlns:a="http://schemas.openxmlformats.org/drawingml/2006/main">
            <a:pPr>
              <a:buNone/>
              <a:defRPr sz="1725" b="0">
                <a:solidFill>
                  <a:srgbClr val="55718D"/>
                </a:solidFill>
              </a:defRPr>
            </a:pPr>
            <a:r>
              <a:rPr sz="1725" b="0">
                <a:solidFill>
                  <a:srgbClr val="55718D"/>
                </a:solidFill>
              </a:rPr>
              <a:t>Midnight’s selective disclosure lets the receipt reveal the winning value while leaving losing prices off the public receipt.</a:t>
            </a:r>
          </a:p>
        </p:txBody>
      </p:sp>
    </p:spTree>
    <p:extLst>
      <p:ext uri="{BB962C8B-B14F-4D97-AF65-F5344CB8AC3E}">
        <p14:creationId xmlns:p14="http://schemas.microsoft.com/office/powerpoint/2010/main" val="646830655"/>
      </p:ext>
    </p:extLst>
  </p:cSld>
</p:sld>
</file>

<file path=ppt/slides/slide3.xml><?xml version="1.0" encoding="utf-8"?>
<p:sld xmlns:p="http://schemas.openxmlformats.org/presentationml/2006/main">
  <p:cSld>
    <p:bg>
      <p:bgPr>
        <a:solidFill xmlns:a="http://schemas.openxmlformats.org/drawingml/2006/main">
          <a:srgbClr val="FCFEFF"/>
        </a:solidFill>
      </p:bgPr>
    </p:bg>
    <p:spTree>
      <p:nvGrpSpPr>
        <p:cNvPr id="1" name=""/>
        <p:cNvGrpSpPr/>
        <p:nvPr/>
      </p:nvGrpSpPr>
      <p:grpSpPr>
        <a:xfrm xmlns:a="http://schemas.openxmlformats.org/drawingml/2006/main"/>
      </p:grpSpPr>
      <p:sp>
        <p:nvSpPr>
          <p:cNvPr id="18" name="section">
            <a:extLst xmlns:a="http://schemas.openxmlformats.org/drawingml/2006/main">
              <a:ext uri="{FF2B5EF4-FFF2-40B4-BE49-F238E27FC236}">
                <a16:creationId xmlns:a16="http://schemas.microsoft.com/office/drawing/2014/main" id="{65B6665B-0D7E-44A3-B99E-B38C7B42B37D}"/>
              </a:ext>
            </a:extLst>
          </p:cNvPr>
          <p:cNvSpPr>
            <a:spLocks xmlns:a="http://schemas.openxmlformats.org/drawingml/2006/main" noGrp="1"/>
          </p:cNvSpPr>
          <p:nvPr/>
        </p:nvSpPr>
        <p:spPr>
          <a:xfrm xmlns:a="http://schemas.openxmlformats.org/drawingml/2006/main">
            <a:off x="685800" y="400050"/>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0752A2"/>
                </a:solidFill>
              </a:defRPr>
            </a:defPPr>
          </a:lstStyle>
          <a:p xmlns:a="http://schemas.openxmlformats.org/drawingml/2006/main">
            <a:pPr>
              <a:buNone/>
              <a:defRPr sz="1200" b="1">
                <a:solidFill>
                  <a:srgbClr val="0752A2"/>
                </a:solidFill>
              </a:defRPr>
            </a:pPr>
            <a:r>
              <a:rPr sz="1200" b="1">
                <a:solidFill>
                  <a:srgbClr val="0752A2"/>
                </a:solidFill>
              </a:rPr>
              <a:t>PRODUCT FLOW</a:t>
            </a:r>
          </a:p>
        </p:txBody>
      </p:sp>
      <p:sp>
        <p:nvSpPr>
          <p:cNvPr id="2" name="title">
            <a:extLst xmlns:a="http://schemas.openxmlformats.org/drawingml/2006/main">
              <a:ext uri="{FF2B5EF4-FFF2-40B4-BE49-F238E27FC236}">
                <a16:creationId xmlns:a16="http://schemas.microsoft.com/office/drawing/2014/main" id="{C1FDAEAC-A00C-40D8-8FB5-A72EAC830DE1}"/>
              </a:ext>
            </a:extLst>
          </p:cNvPr>
          <p:cNvSpPr>
            <a:spLocks xmlns:a="http://schemas.openxmlformats.org/drawingml/2006/main" noGrp="1"/>
          </p:cNvSpPr>
          <p:nvPr/>
        </p:nvSpPr>
        <p:spPr>
          <a:xfrm xmlns:a="http://schemas.openxmlformats.org/drawingml/2006/main">
            <a:off x="685800" y="781050"/>
            <a:ext cx="10820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0A2444"/>
                </a:solidFill>
              </a:defRPr>
            </a:defPPr>
          </a:lstStyle>
          <a:p xmlns:a="http://schemas.openxmlformats.org/drawingml/2006/main">
            <a:pPr>
              <a:buNone/>
              <a:defRPr sz="4050" b="1">
                <a:solidFill>
                  <a:srgbClr val="0A2444"/>
                </a:solidFill>
              </a:defRPr>
            </a:pPr>
            <a:r>
              <a:rPr sz="4050" b="1">
                <a:solidFill>
                  <a:srgbClr val="0A2444"/>
                </a:solidFill>
              </a:rPr>
              <a:t>One tender, four stages</a:t>
            </a:r>
          </a:p>
        </p:txBody>
      </p:sp>
      <p:sp>
        <p:nvSpPr>
          <p:cNvPr id="3" name="rule">
            <a:extLst xmlns:a="http://schemas.openxmlformats.org/drawingml/2006/main">
              <a:ext uri="{FF2B5EF4-FFF2-40B4-BE49-F238E27FC236}">
                <a16:creationId xmlns:a16="http://schemas.microsoft.com/office/drawing/2014/main" id="{B479804D-7126-473B-84D5-1D39088C0C0A}"/>
              </a:ext>
            </a:extLst>
          </p:cNvPr>
          <p:cNvSpPr>
            <a:spLocks xmlns:a="http://schemas.openxmlformats.org/drawingml/2006/main" noGrp="1"/>
          </p:cNvSpPr>
          <p:nvPr/>
        </p:nvSpPr>
        <p:spPr>
          <a:xfrm xmlns:a="http://schemas.openxmlformats.org/drawingml/2006/main">
            <a:off x="685800" y="1657350"/>
            <a:ext cx="10820400" cy="28575"/>
          </a:xfrm>
          <a:prstGeom xmlns:a="http://schemas.openxmlformats.org/drawingml/2006/main" prst="rect">
            <a:avLst/>
          </a:prstGeom>
          <a:solidFill xmlns:a="http://schemas.openxmlformats.org/drawingml/2006/main">
            <a:srgbClr val="0752A2"/>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EB5145D9-17AB-41A7-BBCD-3645C0B71A89}"/>
              </a:ext>
            </a:extLst>
          </p:cNvPr>
          <p:cNvSpPr>
            <a:spLocks xmlns:a="http://schemas.openxmlformats.org/drawingml/2006/main" noGrp="1"/>
          </p:cNvSpPr>
          <p:nvPr/>
        </p:nvSpPr>
        <p:spPr>
          <a:xfrm xmlns:a="http://schemas.openxmlformats.org/drawingml/2006/main">
            <a:off x="685800" y="6419850"/>
            <a:ext cx="923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0">
                <a:solidFill>
                  <a:srgbClr val="55718D"/>
                </a:solidFill>
              </a:defRPr>
            </a:defPPr>
          </a:lstStyle>
          <a:p xmlns:a="http://schemas.openxmlformats.org/drawingml/2006/main">
            <a:pPr>
              <a:buNone/>
              <a:defRPr sz="975" b="0">
                <a:solidFill>
                  <a:srgbClr val="55718D"/>
                </a:solidFill>
              </a:defRPr>
            </a:pPr>
            <a:r>
              <a:rPr sz="975" b="0">
                <a:solidFill>
                  <a:srgbClr val="55718D"/>
                </a:solidFill>
              </a:rPr>
              <a:t>AEGISBID  /  MIDNIGHT BUILDATHON  /  WAVE 2</a:t>
            </a:r>
          </a:p>
        </p:txBody>
      </p:sp>
      <p:sp>
        <p:nvSpPr>
          <p:cNvPr id="5" name="page">
            <a:extLst xmlns:a="http://schemas.openxmlformats.org/drawingml/2006/main">
              <a:ext uri="{FF2B5EF4-FFF2-40B4-BE49-F238E27FC236}">
                <a16:creationId xmlns:a16="http://schemas.microsoft.com/office/drawing/2014/main" id="{AE37484D-8BE6-433F-8B53-0586A4B3B17D}"/>
              </a:ext>
            </a:extLst>
          </p:cNvPr>
          <p:cNvSpPr>
            <a:spLocks xmlns:a="http://schemas.openxmlformats.org/drawingml/2006/main" noGrp="1"/>
          </p:cNvSpPr>
          <p:nvPr/>
        </p:nvSpPr>
        <p:spPr>
          <a:xfrm xmlns:a="http://schemas.openxmlformats.org/drawingml/2006/main">
            <a:off x="10858500" y="6419850"/>
            <a:ext cx="647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55718D"/>
                </a:solidFill>
              </a:defRPr>
            </a:defPPr>
          </a:lstStyle>
          <a:p xmlns:a="http://schemas.openxmlformats.org/drawingml/2006/main">
            <a:pPr>
              <a:buNone/>
              <a:defRPr sz="975" b="1">
                <a:solidFill>
                  <a:srgbClr val="55718D"/>
                </a:solidFill>
              </a:defRPr>
            </a:pPr>
            <a:r>
              <a:rPr sz="975" b="1">
                <a:solidFill>
                  <a:srgbClr val="55718D"/>
                </a:solidFill>
              </a:rPr>
              <a:t>03</a:t>
            </a:r>
          </a:p>
        </p:txBody>
      </p:sp>
      <p:sp>
        <p:nvSpPr>
          <p:cNvPr id="6" name="stage-1">
            <a:extLst xmlns:a="http://schemas.openxmlformats.org/drawingml/2006/main">
              <a:ext uri="{FF2B5EF4-FFF2-40B4-BE49-F238E27FC236}">
                <a16:creationId xmlns:a16="http://schemas.microsoft.com/office/drawing/2014/main" id="{E1BC6EC8-D74B-4093-AAAE-673B51BCD7D6}"/>
              </a:ext>
            </a:extLst>
          </p:cNvPr>
          <p:cNvSpPr>
            <a:spLocks xmlns:a="http://schemas.openxmlformats.org/drawingml/2006/main" noGrp="1"/>
          </p:cNvSpPr>
          <p:nvPr/>
        </p:nvSpPr>
        <p:spPr>
          <a:xfrm xmlns:a="http://schemas.openxmlformats.org/drawingml/2006/main">
            <a:off x="781050" y="22479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0752A2"/>
                </a:solidFill>
              </a:defRPr>
            </a:defPPr>
          </a:lstStyle>
          <a:p xmlns:a="http://schemas.openxmlformats.org/drawingml/2006/main">
            <a:pPr>
              <a:buNone/>
              <a:defRPr sz="1350" b="1">
                <a:solidFill>
                  <a:srgbClr val="0752A2"/>
                </a:solidFill>
              </a:defRPr>
            </a:pPr>
            <a:r>
              <a:rPr sz="1350" b="1">
                <a:solidFill>
                  <a:srgbClr val="0752A2"/>
                </a:solidFill>
              </a:rPr>
              <a:t>01  PUBLISH</a:t>
            </a:r>
          </a:p>
        </p:txBody>
      </p:sp>
      <p:sp>
        <p:nvSpPr>
          <p:cNvPr id="7" name="detail-1">
            <a:extLst xmlns:a="http://schemas.openxmlformats.org/drawingml/2006/main">
              <a:ext uri="{FF2B5EF4-FFF2-40B4-BE49-F238E27FC236}">
                <a16:creationId xmlns:a16="http://schemas.microsoft.com/office/drawing/2014/main" id="{992FF447-22EA-44DE-89B8-581E098B1FE4}"/>
              </a:ext>
            </a:extLst>
          </p:cNvPr>
          <p:cNvSpPr>
            <a:spLocks xmlns:a="http://schemas.openxmlformats.org/drawingml/2006/main" noGrp="1"/>
          </p:cNvSpPr>
          <p:nvPr/>
        </p:nvSpPr>
        <p:spPr>
          <a:xfrm xmlns:a="http://schemas.openxmlformats.org/drawingml/2006/main">
            <a:off x="781050" y="2819400"/>
            <a:ext cx="2362200" cy="1943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0A2444"/>
                </a:solidFill>
              </a:defRPr>
            </a:defPPr>
          </a:lstStyle>
          <a:p xmlns:a="http://schemas.openxmlformats.org/drawingml/2006/main">
            <a:pPr>
              <a:buNone/>
              <a:defRPr sz="1725" b="0">
                <a:solidFill>
                  <a:srgbClr val="0A2444"/>
                </a:solidFill>
              </a:defRPr>
            </a:pPr>
            <a:r>
              <a:rPr sz="1725" b="0">
                <a:solidFill>
                  <a:srgbClr val="0A2444"/>
                </a:solidFill>
              </a:rPr>
              <a:t>Issuer deploys policy, deadline, reserve or ceiling, and evaluator capability.</a:t>
            </a:r>
          </a:p>
        </p:txBody>
      </p:sp>
      <p:sp>
        <p:nvSpPr>
          <p:cNvPr id="8" name="stage-rule-1">
            <a:extLst xmlns:a="http://schemas.openxmlformats.org/drawingml/2006/main">
              <a:ext uri="{FF2B5EF4-FFF2-40B4-BE49-F238E27FC236}">
                <a16:creationId xmlns:a16="http://schemas.microsoft.com/office/drawing/2014/main" id="{DF616230-DB29-45CE-B82E-3CA205383D21}"/>
              </a:ext>
            </a:extLst>
          </p:cNvPr>
          <p:cNvSpPr>
            <a:spLocks xmlns:a="http://schemas.openxmlformats.org/drawingml/2006/main" noGrp="1"/>
          </p:cNvSpPr>
          <p:nvPr/>
        </p:nvSpPr>
        <p:spPr>
          <a:xfrm xmlns:a="http://schemas.openxmlformats.org/drawingml/2006/main">
            <a:off x="781050" y="2724150"/>
            <a:ext cx="2286000" cy="19050"/>
          </a:xfrm>
          <a:prstGeom xmlns:a="http://schemas.openxmlformats.org/drawingml/2006/main" prst="rect">
            <a:avLst/>
          </a:prstGeom>
          <a:solidFill xmlns:a="http://schemas.openxmlformats.org/drawingml/2006/main">
            <a:srgbClr val="BBD2E4"/>
          </a:solidFill>
          <a:ln xmlns:a="http://schemas.openxmlformats.org/drawingml/2006/main" w="0">
            <a:noFill/>
            <a:prstDash val="solid"/>
          </a:ln>
        </p:spPr>
      </p:sp>
      <p:sp>
        <p:nvSpPr>
          <p:cNvPr id="9" name="stage-2">
            <a:extLst xmlns:a="http://schemas.openxmlformats.org/drawingml/2006/main">
              <a:ext uri="{FF2B5EF4-FFF2-40B4-BE49-F238E27FC236}">
                <a16:creationId xmlns:a16="http://schemas.microsoft.com/office/drawing/2014/main" id="{D828AF0B-395A-421A-9B86-A5FFC366F823}"/>
              </a:ext>
            </a:extLst>
          </p:cNvPr>
          <p:cNvSpPr>
            <a:spLocks xmlns:a="http://schemas.openxmlformats.org/drawingml/2006/main" noGrp="1"/>
          </p:cNvSpPr>
          <p:nvPr/>
        </p:nvSpPr>
        <p:spPr>
          <a:xfrm xmlns:a="http://schemas.openxmlformats.org/drawingml/2006/main">
            <a:off x="3476625" y="22479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0752A2"/>
                </a:solidFill>
              </a:defRPr>
            </a:defPPr>
          </a:lstStyle>
          <a:p xmlns:a="http://schemas.openxmlformats.org/drawingml/2006/main">
            <a:pPr>
              <a:buNone/>
              <a:defRPr sz="1350" b="1">
                <a:solidFill>
                  <a:srgbClr val="0752A2"/>
                </a:solidFill>
              </a:defRPr>
            </a:pPr>
            <a:r>
              <a:rPr sz="1350" b="1">
                <a:solidFill>
                  <a:srgbClr val="0752A2"/>
                </a:solidFill>
              </a:rPr>
              <a:t>02  COMMIT</a:t>
            </a:r>
          </a:p>
        </p:txBody>
      </p:sp>
      <p:sp>
        <p:nvSpPr>
          <p:cNvPr id="10" name="detail-2">
            <a:extLst xmlns:a="http://schemas.openxmlformats.org/drawingml/2006/main">
              <a:ext uri="{FF2B5EF4-FFF2-40B4-BE49-F238E27FC236}">
                <a16:creationId xmlns:a16="http://schemas.microsoft.com/office/drawing/2014/main" id="{AEF9638A-4D55-435D-99EA-495FEE299126}"/>
              </a:ext>
            </a:extLst>
          </p:cNvPr>
          <p:cNvSpPr>
            <a:spLocks xmlns:a="http://schemas.openxmlformats.org/drawingml/2006/main" noGrp="1"/>
          </p:cNvSpPr>
          <p:nvPr/>
        </p:nvSpPr>
        <p:spPr>
          <a:xfrm xmlns:a="http://schemas.openxmlformats.org/drawingml/2006/main">
            <a:off x="3476625" y="2819400"/>
            <a:ext cx="2362200" cy="1943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0A2444"/>
                </a:solidFill>
              </a:defRPr>
            </a:defPPr>
          </a:lstStyle>
          <a:p xmlns:a="http://schemas.openxmlformats.org/drawingml/2006/main">
            <a:pPr>
              <a:buNone/>
              <a:defRPr sz="1725" b="0">
                <a:solidFill>
                  <a:srgbClr val="0A2444"/>
                </a:solidFill>
              </a:defRPr>
            </a:pPr>
            <a:r>
              <a:rPr sz="1725" b="0">
                <a:solidFill>
                  <a:srgbClr val="0A2444"/>
                </a:solidFill>
              </a:rPr>
              <a:t>Bidder proves an offer commitment. The ledger records a commitment and scoped nullifier.</a:t>
            </a:r>
          </a:p>
        </p:txBody>
      </p:sp>
      <p:sp>
        <p:nvSpPr>
          <p:cNvPr id="11" name="stage-rule-2">
            <a:extLst xmlns:a="http://schemas.openxmlformats.org/drawingml/2006/main">
              <a:ext uri="{FF2B5EF4-FFF2-40B4-BE49-F238E27FC236}">
                <a16:creationId xmlns:a16="http://schemas.microsoft.com/office/drawing/2014/main" id="{0AC6D591-159A-4CA2-A44D-5E5767B374C6}"/>
              </a:ext>
            </a:extLst>
          </p:cNvPr>
          <p:cNvSpPr>
            <a:spLocks xmlns:a="http://schemas.openxmlformats.org/drawingml/2006/main" noGrp="1"/>
          </p:cNvSpPr>
          <p:nvPr/>
        </p:nvSpPr>
        <p:spPr>
          <a:xfrm xmlns:a="http://schemas.openxmlformats.org/drawingml/2006/main">
            <a:off x="3476625" y="2724150"/>
            <a:ext cx="2286000" cy="19050"/>
          </a:xfrm>
          <a:prstGeom xmlns:a="http://schemas.openxmlformats.org/drawingml/2006/main" prst="rect">
            <a:avLst/>
          </a:prstGeom>
          <a:solidFill xmlns:a="http://schemas.openxmlformats.org/drawingml/2006/main">
            <a:srgbClr val="BBD2E4"/>
          </a:solidFill>
          <a:ln xmlns:a="http://schemas.openxmlformats.org/drawingml/2006/main" w="0">
            <a:noFill/>
            <a:prstDash val="solid"/>
          </a:ln>
        </p:spPr>
      </p:sp>
      <p:sp>
        <p:nvSpPr>
          <p:cNvPr id="12" name="stage-3">
            <a:extLst xmlns:a="http://schemas.openxmlformats.org/drawingml/2006/main">
              <a:ext uri="{FF2B5EF4-FFF2-40B4-BE49-F238E27FC236}">
                <a16:creationId xmlns:a16="http://schemas.microsoft.com/office/drawing/2014/main" id="{A8D386BD-6273-4B05-8922-C15EB4E7FDFA}"/>
              </a:ext>
            </a:extLst>
          </p:cNvPr>
          <p:cNvSpPr>
            <a:spLocks xmlns:a="http://schemas.openxmlformats.org/drawingml/2006/main" noGrp="1"/>
          </p:cNvSpPr>
          <p:nvPr/>
        </p:nvSpPr>
        <p:spPr>
          <a:xfrm xmlns:a="http://schemas.openxmlformats.org/drawingml/2006/main">
            <a:off x="6172200" y="22479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0752A2"/>
                </a:solidFill>
              </a:defRPr>
            </a:defPPr>
          </a:lstStyle>
          <a:p xmlns:a="http://schemas.openxmlformats.org/drawingml/2006/main">
            <a:pPr>
              <a:buNone/>
              <a:defRPr sz="1350" b="1">
                <a:solidFill>
                  <a:srgbClr val="0752A2"/>
                </a:solidFill>
              </a:defRPr>
            </a:pPr>
            <a:r>
              <a:rPr sz="1350" b="1">
                <a:solidFill>
                  <a:srgbClr val="0752A2"/>
                </a:solidFill>
              </a:rPr>
              <a:t>03  EVALUATE</a:t>
            </a:r>
          </a:p>
        </p:txBody>
      </p:sp>
      <p:sp>
        <p:nvSpPr>
          <p:cNvPr id="13" name="detail-3">
            <a:extLst xmlns:a="http://schemas.openxmlformats.org/drawingml/2006/main">
              <a:ext uri="{FF2B5EF4-FFF2-40B4-BE49-F238E27FC236}">
                <a16:creationId xmlns:a16="http://schemas.microsoft.com/office/drawing/2014/main" id="{D274572C-5562-4099-874B-73D48F931CEF}"/>
              </a:ext>
            </a:extLst>
          </p:cNvPr>
          <p:cNvSpPr>
            <a:spLocks xmlns:a="http://schemas.openxmlformats.org/drawingml/2006/main" noGrp="1"/>
          </p:cNvSpPr>
          <p:nvPr/>
        </p:nvSpPr>
        <p:spPr>
          <a:xfrm xmlns:a="http://schemas.openxmlformats.org/drawingml/2006/main">
            <a:off x="6172200" y="2819400"/>
            <a:ext cx="2362200" cy="1943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0A2444"/>
                </a:solidFill>
              </a:defRPr>
            </a:defPPr>
          </a:lstStyle>
          <a:p xmlns:a="http://schemas.openxmlformats.org/drawingml/2006/main">
            <a:pPr>
              <a:buNone/>
              <a:defRPr sz="1725" b="0">
                <a:solidFill>
                  <a:srgbClr val="0A2444"/>
                </a:solidFill>
              </a:defRPr>
            </a:pPr>
            <a:r>
              <a:rPr sz="1725" b="0">
                <a:solidFill>
                  <a:srgbClr val="0A2444"/>
                </a:solidFill>
              </a:rPr>
              <a:t>After ledger time reaches closing, the evaluator supplies the committed bid witnesses.</a:t>
            </a:r>
          </a:p>
        </p:txBody>
      </p:sp>
      <p:sp>
        <p:nvSpPr>
          <p:cNvPr id="14" name="stage-rule-3">
            <a:extLst xmlns:a="http://schemas.openxmlformats.org/drawingml/2006/main">
              <a:ext uri="{FF2B5EF4-FFF2-40B4-BE49-F238E27FC236}">
                <a16:creationId xmlns:a16="http://schemas.microsoft.com/office/drawing/2014/main" id="{6EB3FBE8-BA19-438B-A7B4-50B5E81B8873}"/>
              </a:ext>
            </a:extLst>
          </p:cNvPr>
          <p:cNvSpPr>
            <a:spLocks xmlns:a="http://schemas.openxmlformats.org/drawingml/2006/main" noGrp="1"/>
          </p:cNvSpPr>
          <p:nvPr/>
        </p:nvSpPr>
        <p:spPr>
          <a:xfrm xmlns:a="http://schemas.openxmlformats.org/drawingml/2006/main">
            <a:off x="6172200" y="2724150"/>
            <a:ext cx="2286000" cy="19050"/>
          </a:xfrm>
          <a:prstGeom xmlns:a="http://schemas.openxmlformats.org/drawingml/2006/main" prst="rect">
            <a:avLst/>
          </a:prstGeom>
          <a:solidFill xmlns:a="http://schemas.openxmlformats.org/drawingml/2006/main">
            <a:srgbClr val="BBD2E4"/>
          </a:solidFill>
          <a:ln xmlns:a="http://schemas.openxmlformats.org/drawingml/2006/main" w="0">
            <a:noFill/>
            <a:prstDash val="solid"/>
          </a:ln>
        </p:spPr>
      </p:sp>
      <p:sp>
        <p:nvSpPr>
          <p:cNvPr id="15" name="stage-4">
            <a:extLst xmlns:a="http://schemas.openxmlformats.org/drawingml/2006/main">
              <a:ext uri="{FF2B5EF4-FFF2-40B4-BE49-F238E27FC236}">
                <a16:creationId xmlns:a16="http://schemas.microsoft.com/office/drawing/2014/main" id="{B7972DC1-206B-451C-AF03-25BF9F90A10A}"/>
              </a:ext>
            </a:extLst>
          </p:cNvPr>
          <p:cNvSpPr>
            <a:spLocks xmlns:a="http://schemas.openxmlformats.org/drawingml/2006/main" noGrp="1"/>
          </p:cNvSpPr>
          <p:nvPr/>
        </p:nvSpPr>
        <p:spPr>
          <a:xfrm xmlns:a="http://schemas.openxmlformats.org/drawingml/2006/main">
            <a:off x="8867775" y="22479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26A97A"/>
                </a:solidFill>
              </a:defRPr>
            </a:defPPr>
          </a:lstStyle>
          <a:p xmlns:a="http://schemas.openxmlformats.org/drawingml/2006/main">
            <a:pPr>
              <a:buNone/>
              <a:defRPr sz="1350" b="1">
                <a:solidFill>
                  <a:srgbClr val="26A97A"/>
                </a:solidFill>
              </a:defRPr>
            </a:pPr>
            <a:r>
              <a:rPr sz="1350" b="1">
                <a:solidFill>
                  <a:srgbClr val="26A97A"/>
                </a:solidFill>
              </a:rPr>
              <a:t>04  SETTLE</a:t>
            </a:r>
          </a:p>
        </p:txBody>
      </p:sp>
      <p:sp>
        <p:nvSpPr>
          <p:cNvPr id="16" name="detail-4">
            <a:extLst xmlns:a="http://schemas.openxmlformats.org/drawingml/2006/main">
              <a:ext uri="{FF2B5EF4-FFF2-40B4-BE49-F238E27FC236}">
                <a16:creationId xmlns:a16="http://schemas.microsoft.com/office/drawing/2014/main" id="{4107082E-E3C6-497F-9096-1C0D23463633}"/>
              </a:ext>
            </a:extLst>
          </p:cNvPr>
          <p:cNvSpPr>
            <a:spLocks xmlns:a="http://schemas.openxmlformats.org/drawingml/2006/main" noGrp="1"/>
          </p:cNvSpPr>
          <p:nvPr/>
        </p:nvSpPr>
        <p:spPr>
          <a:xfrm xmlns:a="http://schemas.openxmlformats.org/drawingml/2006/main">
            <a:off x="8867775" y="2819400"/>
            <a:ext cx="2362200" cy="1943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0A2444"/>
                </a:solidFill>
              </a:defRPr>
            </a:defPPr>
          </a:lstStyle>
          <a:p xmlns:a="http://schemas.openxmlformats.org/drawingml/2006/main">
            <a:pPr>
              <a:buNone/>
              <a:defRPr sz="1725" b="0">
                <a:solidFill>
                  <a:srgbClr val="0A2444"/>
                </a:solidFill>
              </a:defRPr>
            </a:pPr>
            <a:r>
              <a:rPr sz="1725" b="0">
                <a:solidFill>
                  <a:srgbClr val="0A2444"/>
                </a:solidFill>
              </a:rPr>
              <a:t>V2 checks supplied bids against commitments and compares their values. It does not yet prove that every committed bid appears exactly once, so global optimality is unproven.</a:t>
            </a:r>
          </a:p>
        </p:txBody>
      </p:sp>
      <p:sp>
        <p:nvSpPr>
          <p:cNvPr id="17" name="boundary">
            <a:extLst xmlns:a="http://schemas.openxmlformats.org/drawingml/2006/main">
              <a:ext uri="{FF2B5EF4-FFF2-40B4-BE49-F238E27FC236}">
                <a16:creationId xmlns:a16="http://schemas.microsoft.com/office/drawing/2014/main" id="{9D86917C-2AFC-40C0-842F-B470700E1F5A}"/>
              </a:ext>
            </a:extLst>
          </p:cNvPr>
          <p:cNvSpPr>
            <a:spLocks xmlns:a="http://schemas.openxmlformats.org/drawingml/2006/main" noGrp="1"/>
          </p:cNvSpPr>
          <p:nvPr/>
        </p:nvSpPr>
        <p:spPr>
          <a:xfrm xmlns:a="http://schemas.openxmlformats.org/drawingml/2006/main">
            <a:off x="781050" y="5295900"/>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1">
                <a:solidFill>
                  <a:srgbClr val="55718D"/>
                </a:solidFill>
              </a:defRPr>
            </a:defPPr>
          </a:lstStyle>
          <a:p xmlns:a="http://schemas.openxmlformats.org/drawingml/2006/main">
            <a:pPr>
              <a:buNone/>
              <a:defRPr sz="1725" b="1">
                <a:solidFill>
                  <a:srgbClr val="55718D"/>
                </a:solidFill>
              </a:defRPr>
            </a:pPr>
            <a:r>
              <a:rPr sz="1725" b="1">
                <a:solidFill>
                  <a:srgbClr val="55718D"/>
                </a:solidFill>
              </a:rPr>
              <a:t>The receipt reveals the selected value. V2 does not yet prove that it is the true optimum.</a:t>
            </a:r>
          </a:p>
        </p:txBody>
      </p:sp>
    </p:spTree>
    <p:extLst>
      <p:ext uri="{BB962C8B-B14F-4D97-AF65-F5344CB8AC3E}">
        <p14:creationId xmlns:p14="http://schemas.microsoft.com/office/powerpoint/2010/main" val="739777404"/>
      </p:ext>
    </p:extLst>
  </p:cSld>
</p:sld>
</file>

<file path=ppt/slides/slide4.xml><?xml version="1.0" encoding="utf-8"?>
<p:sld xmlns:p="http://schemas.openxmlformats.org/presentationml/2006/main">
  <p:cSld>
    <p:bg>
      <p:bgPr>
        <a:solidFill xmlns:a="http://schemas.openxmlformats.org/drawingml/2006/main">
          <a:srgbClr val="FCFEFF"/>
        </a:solidFill>
      </p:bgPr>
    </p:bg>
    <p:spTree>
      <p:nvGrpSpPr>
        <p:cNvPr id="1" name=""/>
        <p:cNvGrpSpPr/>
        <p:nvPr/>
      </p:nvGrpSpPr>
      <p:grpSpPr>
        <a:xfrm xmlns:a="http://schemas.openxmlformats.org/drawingml/2006/main"/>
      </p:grpSpPr>
      <p:sp>
        <p:nvSpPr>
          <p:cNvPr id="12" name="section">
            <a:extLst xmlns:a="http://schemas.openxmlformats.org/drawingml/2006/main">
              <a:ext uri="{FF2B5EF4-FFF2-40B4-BE49-F238E27FC236}">
                <a16:creationId xmlns:a16="http://schemas.microsoft.com/office/drawing/2014/main" id="{A7001099-2FF6-4898-89E4-AB43E76718EE}"/>
              </a:ext>
            </a:extLst>
          </p:cNvPr>
          <p:cNvSpPr>
            <a:spLocks xmlns:a="http://schemas.openxmlformats.org/drawingml/2006/main" noGrp="1"/>
          </p:cNvSpPr>
          <p:nvPr/>
        </p:nvSpPr>
        <p:spPr>
          <a:xfrm xmlns:a="http://schemas.openxmlformats.org/drawingml/2006/main">
            <a:off x="685800" y="400050"/>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0752A2"/>
                </a:solidFill>
              </a:defRPr>
            </a:defPPr>
          </a:lstStyle>
          <a:p xmlns:a="http://schemas.openxmlformats.org/drawingml/2006/main">
            <a:pPr>
              <a:buNone/>
              <a:defRPr sz="1200" b="1">
                <a:solidFill>
                  <a:srgbClr val="0752A2"/>
                </a:solidFill>
              </a:defRPr>
            </a:pPr>
            <a:r>
              <a:rPr sz="1200" b="1">
                <a:solidFill>
                  <a:srgbClr val="0752A2"/>
                </a:solidFill>
              </a:rPr>
              <a:t>MIDNIGHT ARCHITECTURE</a:t>
            </a:r>
          </a:p>
        </p:txBody>
      </p:sp>
      <p:sp>
        <p:nvSpPr>
          <p:cNvPr id="2" name="title">
            <a:extLst xmlns:a="http://schemas.openxmlformats.org/drawingml/2006/main">
              <a:ext uri="{FF2B5EF4-FFF2-40B4-BE49-F238E27FC236}">
                <a16:creationId xmlns:a16="http://schemas.microsoft.com/office/drawing/2014/main" id="{134F0C0C-9E25-4F4D-8676-45E078B0C150}"/>
              </a:ext>
            </a:extLst>
          </p:cNvPr>
          <p:cNvSpPr>
            <a:spLocks xmlns:a="http://schemas.openxmlformats.org/drawingml/2006/main" noGrp="1"/>
          </p:cNvSpPr>
          <p:nvPr/>
        </p:nvSpPr>
        <p:spPr>
          <a:xfrm xmlns:a="http://schemas.openxmlformats.org/drawingml/2006/main">
            <a:off x="685800" y="781050"/>
            <a:ext cx="10820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0A2444"/>
                </a:solidFill>
              </a:defRPr>
            </a:defPPr>
          </a:lstStyle>
          <a:p xmlns:a="http://schemas.openxmlformats.org/drawingml/2006/main">
            <a:pPr>
              <a:buNone/>
              <a:defRPr sz="4050" b="1">
                <a:solidFill>
                  <a:srgbClr val="0A2444"/>
                </a:solidFill>
              </a:defRPr>
            </a:pPr>
            <a:r>
              <a:rPr sz="4050" b="1">
                <a:solidFill>
                  <a:srgbClr val="0A2444"/>
                </a:solidFill>
              </a:rPr>
              <a:t>Public state and private witnesses</a:t>
            </a:r>
          </a:p>
        </p:txBody>
      </p:sp>
      <p:sp>
        <p:nvSpPr>
          <p:cNvPr id="3" name="rule">
            <a:extLst xmlns:a="http://schemas.openxmlformats.org/drawingml/2006/main">
              <a:ext uri="{FF2B5EF4-FFF2-40B4-BE49-F238E27FC236}">
                <a16:creationId xmlns:a16="http://schemas.microsoft.com/office/drawing/2014/main" id="{19EF80BF-7430-4466-8F53-C6C7B02715EE}"/>
              </a:ext>
            </a:extLst>
          </p:cNvPr>
          <p:cNvSpPr>
            <a:spLocks xmlns:a="http://schemas.openxmlformats.org/drawingml/2006/main" noGrp="1"/>
          </p:cNvSpPr>
          <p:nvPr/>
        </p:nvSpPr>
        <p:spPr>
          <a:xfrm xmlns:a="http://schemas.openxmlformats.org/drawingml/2006/main">
            <a:off x="685800" y="1657350"/>
            <a:ext cx="10820400" cy="28575"/>
          </a:xfrm>
          <a:prstGeom xmlns:a="http://schemas.openxmlformats.org/drawingml/2006/main" prst="rect">
            <a:avLst/>
          </a:prstGeom>
          <a:solidFill xmlns:a="http://schemas.openxmlformats.org/drawingml/2006/main">
            <a:srgbClr val="0752A2"/>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36E79B5F-BA23-4ADA-BB41-92E973944545}"/>
              </a:ext>
            </a:extLst>
          </p:cNvPr>
          <p:cNvSpPr>
            <a:spLocks xmlns:a="http://schemas.openxmlformats.org/drawingml/2006/main" noGrp="1"/>
          </p:cNvSpPr>
          <p:nvPr/>
        </p:nvSpPr>
        <p:spPr>
          <a:xfrm xmlns:a="http://schemas.openxmlformats.org/drawingml/2006/main">
            <a:off x="685800" y="6419850"/>
            <a:ext cx="923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0">
                <a:solidFill>
                  <a:srgbClr val="55718D"/>
                </a:solidFill>
              </a:defRPr>
            </a:defPPr>
          </a:lstStyle>
          <a:p xmlns:a="http://schemas.openxmlformats.org/drawingml/2006/main">
            <a:pPr>
              <a:buNone/>
              <a:defRPr sz="975" b="0">
                <a:solidFill>
                  <a:srgbClr val="55718D"/>
                </a:solidFill>
              </a:defRPr>
            </a:pPr>
            <a:r>
              <a:rPr sz="975" b="0">
                <a:solidFill>
                  <a:srgbClr val="55718D"/>
                </a:solidFill>
              </a:rPr>
              <a:t>AEGISBID  /  MIDNIGHT BUILDATHON  /  WAVE 2</a:t>
            </a:r>
          </a:p>
        </p:txBody>
      </p:sp>
      <p:sp>
        <p:nvSpPr>
          <p:cNvPr id="5" name="page">
            <a:extLst xmlns:a="http://schemas.openxmlformats.org/drawingml/2006/main">
              <a:ext uri="{FF2B5EF4-FFF2-40B4-BE49-F238E27FC236}">
                <a16:creationId xmlns:a16="http://schemas.microsoft.com/office/drawing/2014/main" id="{A6655DDA-4992-4E8F-90EA-28BCBD3A8136}"/>
              </a:ext>
            </a:extLst>
          </p:cNvPr>
          <p:cNvSpPr>
            <a:spLocks xmlns:a="http://schemas.openxmlformats.org/drawingml/2006/main" noGrp="1"/>
          </p:cNvSpPr>
          <p:nvPr/>
        </p:nvSpPr>
        <p:spPr>
          <a:xfrm xmlns:a="http://schemas.openxmlformats.org/drawingml/2006/main">
            <a:off x="10858500" y="6419850"/>
            <a:ext cx="647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55718D"/>
                </a:solidFill>
              </a:defRPr>
            </a:defPPr>
          </a:lstStyle>
          <a:p xmlns:a="http://schemas.openxmlformats.org/drawingml/2006/main">
            <a:pPr>
              <a:buNone/>
              <a:defRPr sz="975" b="1">
                <a:solidFill>
                  <a:srgbClr val="55718D"/>
                </a:solidFill>
              </a:defRPr>
            </a:pPr>
            <a:r>
              <a:rPr sz="975" b="1">
                <a:solidFill>
                  <a:srgbClr val="55718D"/>
                </a:solidFill>
              </a:rPr>
              <a:t>04</a:t>
            </a:r>
          </a:p>
        </p:txBody>
      </p:sp>
      <p:sp>
        <p:nvSpPr>
          <p:cNvPr id="6" name="public heading">
            <a:extLst xmlns:a="http://schemas.openxmlformats.org/drawingml/2006/main">
              <a:ext uri="{FF2B5EF4-FFF2-40B4-BE49-F238E27FC236}">
                <a16:creationId xmlns:a16="http://schemas.microsoft.com/office/drawing/2014/main" id="{03AD0F70-5A9E-4108-8E61-51632F03121E}"/>
              </a:ext>
            </a:extLst>
          </p:cNvPr>
          <p:cNvSpPr>
            <a:spLocks xmlns:a="http://schemas.openxmlformats.org/drawingml/2006/main" noGrp="1"/>
          </p:cNvSpPr>
          <p:nvPr/>
        </p:nvSpPr>
        <p:spPr>
          <a:xfrm xmlns:a="http://schemas.openxmlformats.org/drawingml/2006/main">
            <a:off x="781050" y="2095500"/>
            <a:ext cx="4572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0752A2"/>
                </a:solidFill>
              </a:defRPr>
            </a:defPPr>
          </a:lstStyle>
          <a:p xmlns:a="http://schemas.openxmlformats.org/drawingml/2006/main">
            <a:pPr>
              <a:buNone/>
              <a:defRPr sz="1350" b="1">
                <a:solidFill>
                  <a:srgbClr val="0752A2"/>
                </a:solidFill>
              </a:defRPr>
            </a:pPr>
            <a:r>
              <a:rPr sz="1350" b="1">
                <a:solidFill>
                  <a:srgbClr val="0752A2"/>
                </a:solidFill>
              </a:rPr>
              <a:t>PUBLIC LEDGER</a:t>
            </a:r>
          </a:p>
        </p:txBody>
      </p:sp>
      <p:sp>
        <p:nvSpPr>
          <p:cNvPr id="7" name="public body">
            <a:extLst xmlns:a="http://schemas.openxmlformats.org/drawingml/2006/main">
              <a:ext uri="{FF2B5EF4-FFF2-40B4-BE49-F238E27FC236}">
                <a16:creationId xmlns:a16="http://schemas.microsoft.com/office/drawing/2014/main" id="{6E4E9870-36CA-4173-9CDD-49BD28C0F857}"/>
              </a:ext>
            </a:extLst>
          </p:cNvPr>
          <p:cNvSpPr>
            <a:spLocks xmlns:a="http://schemas.openxmlformats.org/drawingml/2006/main" noGrp="1"/>
          </p:cNvSpPr>
          <p:nvPr/>
        </p:nvSpPr>
        <p:spPr>
          <a:xfrm xmlns:a="http://schemas.openxmlformats.org/drawingml/2006/main">
            <a:off x="781050" y="2628900"/>
            <a:ext cx="447675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A2444"/>
                </a:solidFill>
              </a:defRPr>
            </a:defPPr>
          </a:lstStyle>
          <a:p xmlns:a="http://schemas.openxmlformats.org/drawingml/2006/main">
            <a:pPr>
              <a:buNone/>
              <a:defRPr sz="1875" b="0">
                <a:solidFill>
                  <a:srgbClr val="0A2444"/>
                </a:solidFill>
              </a:defRPr>
            </a:pPr>
            <a:r>
              <a:rPr sz="1875" b="0">
                <a:solidFill>
                  <a:srgbClr val="0A2444"/>
                </a:solidFill>
              </a:rPr>
              <a:t>Tender terms and phase</a:t>
            </a:r>
          </a:p>
          <a:p xmlns:a="http://schemas.openxmlformats.org/drawingml/2006/main">
            <a:pPr>
              <a:buNone/>
              <a:defRPr sz="1875" b="0">
                <a:solidFill>
                  <a:srgbClr val="0A2444"/>
                </a:solidFill>
              </a:defRPr>
            </a:pPr>
            <a:r>
              <a:rPr sz="1875" b="0">
                <a:solidFill>
                  <a:srgbClr val="0A2444"/>
                </a:solidFill>
              </a:rPr>
              <a:t>Offer commitments and nullifiers</a:t>
            </a:r>
          </a:p>
          <a:p xmlns:a="http://schemas.openxmlformats.org/drawingml/2006/main">
            <a:pPr>
              <a:buNone/>
              <a:defRPr sz="1875" b="0">
                <a:solidFill>
                  <a:srgbClr val="0A2444"/>
                </a:solidFill>
              </a:defRPr>
            </a:pPr>
            <a:r>
              <a:rPr sz="1875" b="0">
                <a:solidFill>
                  <a:srgbClr val="0A2444"/>
                </a:solidFill>
              </a:rPr>
              <a:t>Evaluator commitment</a:t>
            </a:r>
          </a:p>
          <a:p xmlns:a="http://schemas.openxmlformats.org/drawingml/2006/main">
            <a:pPr>
              <a:buNone/>
              <a:defRPr sz="1875" b="0">
                <a:solidFill>
                  <a:srgbClr val="0A2444"/>
                </a:solidFill>
              </a:defRPr>
            </a:pPr>
            <a:r>
              <a:rPr sz="1875" b="0">
                <a:solidFill>
                  <a:srgbClr val="0A2444"/>
                </a:solidFill>
              </a:rPr>
              <a:t>Winning commitment and value</a:t>
            </a:r>
          </a:p>
          <a:p xmlns:a="http://schemas.openxmlformats.org/drawingml/2006/main">
            <a:pPr>
              <a:buNone/>
              <a:defRPr sz="1875" b="0">
                <a:solidFill>
                  <a:srgbClr val="0A2444"/>
                </a:solidFill>
              </a:defRPr>
            </a:pPr>
            <a:r>
              <a:rPr sz="1875" b="0">
                <a:solidFill>
                  <a:srgbClr val="0A2444"/>
                </a:solidFill>
              </a:rPr>
              <a:t>Comparison root</a:t>
            </a:r>
          </a:p>
        </p:txBody>
      </p:sp>
      <p:sp>
        <p:nvSpPr>
          <p:cNvPr id="8" name="divider">
            <a:extLst xmlns:a="http://schemas.openxmlformats.org/drawingml/2006/main">
              <a:ext uri="{FF2B5EF4-FFF2-40B4-BE49-F238E27FC236}">
                <a16:creationId xmlns:a16="http://schemas.microsoft.com/office/drawing/2014/main" id="{ECD19952-02AD-4079-8565-A25440D4ED30}"/>
              </a:ext>
            </a:extLst>
          </p:cNvPr>
          <p:cNvSpPr>
            <a:spLocks xmlns:a="http://schemas.openxmlformats.org/drawingml/2006/main" noGrp="1"/>
          </p:cNvSpPr>
          <p:nvPr/>
        </p:nvSpPr>
        <p:spPr>
          <a:xfrm xmlns:a="http://schemas.openxmlformats.org/drawingml/2006/main">
            <a:off x="5943600" y="2152650"/>
            <a:ext cx="19050" cy="2895600"/>
          </a:xfrm>
          <a:prstGeom xmlns:a="http://schemas.openxmlformats.org/drawingml/2006/main" prst="rect">
            <a:avLst/>
          </a:prstGeom>
          <a:solidFill xmlns:a="http://schemas.openxmlformats.org/drawingml/2006/main">
            <a:srgbClr val="BBD2E4"/>
          </a:solidFill>
          <a:ln xmlns:a="http://schemas.openxmlformats.org/drawingml/2006/main" w="0">
            <a:noFill/>
            <a:prstDash val="solid"/>
          </a:ln>
        </p:spPr>
      </p:sp>
      <p:sp>
        <p:nvSpPr>
          <p:cNvPr id="9" name="private heading">
            <a:extLst xmlns:a="http://schemas.openxmlformats.org/drawingml/2006/main">
              <a:ext uri="{FF2B5EF4-FFF2-40B4-BE49-F238E27FC236}">
                <a16:creationId xmlns:a16="http://schemas.microsoft.com/office/drawing/2014/main" id="{E4A00338-1F0B-4144-BC46-4ED30EF6B28D}"/>
              </a:ext>
            </a:extLst>
          </p:cNvPr>
          <p:cNvSpPr>
            <a:spLocks xmlns:a="http://schemas.openxmlformats.org/drawingml/2006/main" noGrp="1"/>
          </p:cNvSpPr>
          <p:nvPr/>
        </p:nvSpPr>
        <p:spPr>
          <a:xfrm xmlns:a="http://schemas.openxmlformats.org/drawingml/2006/main">
            <a:off x="6477000" y="209550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26A97A"/>
                </a:solidFill>
              </a:defRPr>
            </a:defPPr>
          </a:lstStyle>
          <a:p xmlns:a="http://schemas.openxmlformats.org/drawingml/2006/main">
            <a:pPr>
              <a:buNone/>
              <a:defRPr sz="1350" b="1">
                <a:solidFill>
                  <a:srgbClr val="26A97A"/>
                </a:solidFill>
              </a:defRPr>
            </a:pPr>
            <a:r>
              <a:rPr sz="1350" b="1">
                <a:solidFill>
                  <a:srgbClr val="26A97A"/>
                </a:solidFill>
              </a:rPr>
              <a:t>PRIVATE WITNESSES</a:t>
            </a:r>
          </a:p>
        </p:txBody>
      </p:sp>
      <p:sp>
        <p:nvSpPr>
          <p:cNvPr id="10" name="private body">
            <a:extLst xmlns:a="http://schemas.openxmlformats.org/drawingml/2006/main">
              <a:ext uri="{FF2B5EF4-FFF2-40B4-BE49-F238E27FC236}">
                <a16:creationId xmlns:a16="http://schemas.microsoft.com/office/drawing/2014/main" id="{E066CB43-E335-41C0-A0E8-3879ED25F303}"/>
              </a:ext>
            </a:extLst>
          </p:cNvPr>
          <p:cNvSpPr>
            <a:spLocks xmlns:a="http://schemas.openxmlformats.org/drawingml/2006/main" noGrp="1"/>
          </p:cNvSpPr>
          <p:nvPr/>
        </p:nvSpPr>
        <p:spPr>
          <a:xfrm xmlns:a="http://schemas.openxmlformats.org/drawingml/2006/main">
            <a:off x="6477000" y="2628900"/>
            <a:ext cx="485775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A2444"/>
                </a:solidFill>
              </a:defRPr>
            </a:defPPr>
          </a:lstStyle>
          <a:p xmlns:a="http://schemas.openxmlformats.org/drawingml/2006/main">
            <a:pPr>
              <a:buNone/>
              <a:defRPr sz="1875" b="0">
                <a:solidFill>
                  <a:srgbClr val="0A2444"/>
                </a:solidFill>
              </a:defRPr>
            </a:pPr>
            <a:r>
              <a:rPr sz="1875" b="0">
                <a:solidFill>
                  <a:srgbClr val="0A2444"/>
                </a:solidFill>
              </a:rPr>
              <a:t>Offer amount and salt at bid time</a:t>
            </a:r>
          </a:p>
          <a:p xmlns:a="http://schemas.openxmlformats.org/drawingml/2006/main">
            <a:pPr>
              <a:buNone/>
              <a:defRPr sz="1875" b="0">
                <a:solidFill>
                  <a:srgbClr val="0A2444"/>
                </a:solidFill>
              </a:defRPr>
            </a:pPr>
            <a:r>
              <a:rPr sz="1875" b="0">
                <a:solidFill>
                  <a:srgbClr val="0A2444"/>
                </a:solidFill>
              </a:rPr>
              <a:t>Bidder key</a:t>
            </a:r>
          </a:p>
          <a:p xmlns:a="http://schemas.openxmlformats.org/drawingml/2006/main">
            <a:pPr>
              <a:buNone/>
              <a:defRPr sz="1875" b="0">
                <a:solidFill>
                  <a:srgbClr val="0A2444"/>
                </a:solidFill>
              </a:defRPr>
            </a:pPr>
            <a:r>
              <a:rPr sz="1875" b="0">
                <a:solidFill>
                  <a:srgbClr val="0A2444"/>
                </a:solidFill>
              </a:rPr>
              <a:t>Candidate amounts, salts, and keys at settlement</a:t>
            </a:r>
          </a:p>
          <a:p xmlns:a="http://schemas.openxmlformats.org/drawingml/2006/main">
            <a:pPr>
              <a:buNone/>
              <a:defRPr sz="1875" b="0">
                <a:solidFill>
                  <a:srgbClr val="0A2444"/>
                </a:solidFill>
              </a:defRPr>
            </a:pPr>
            <a:r>
              <a:rPr sz="1875" b="0">
                <a:solidFill>
                  <a:srgbClr val="0A2444"/>
                </a:solidFill>
              </a:rPr>
              <a:t>Evaluator capability</a:t>
            </a:r>
          </a:p>
        </p:txBody>
      </p:sp>
      <p:sp>
        <p:nvSpPr>
          <p:cNvPr id="11" name="caveat">
            <a:extLst xmlns:a="http://schemas.openxmlformats.org/drawingml/2006/main">
              <a:ext uri="{FF2B5EF4-FFF2-40B4-BE49-F238E27FC236}">
                <a16:creationId xmlns:a16="http://schemas.microsoft.com/office/drawing/2014/main" id="{0DE35241-10C0-4EDF-A18F-254A81BA1C78}"/>
              </a:ext>
            </a:extLst>
          </p:cNvPr>
          <p:cNvSpPr>
            <a:spLocks xmlns:a="http://schemas.openxmlformats.org/drawingml/2006/main" noGrp="1"/>
          </p:cNvSpPr>
          <p:nvPr/>
        </p:nvSpPr>
        <p:spPr>
          <a:xfrm xmlns:a="http://schemas.openxmlformats.org/drawingml/2006/main">
            <a:off x="781050" y="5353050"/>
            <a:ext cx="1038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55718D"/>
                </a:solidFill>
              </a:defRPr>
            </a:defPPr>
          </a:lstStyle>
          <a:p xmlns:a="http://schemas.openxmlformats.org/drawingml/2006/main">
            <a:pPr>
              <a:buNone/>
              <a:defRPr sz="1650" b="0">
                <a:solidFill>
                  <a:srgbClr val="55718D"/>
                </a:solidFill>
              </a:defRPr>
            </a:pPr>
            <a:r>
              <a:rPr sz="1650" b="0">
                <a:solidFill>
                  <a:srgbClr val="55718D"/>
                </a:solidFill>
              </a:rPr>
              <a:t>The evaluator must obtain witnesses after closing. The current app supports encrypted file handoff; recovery is not automatic.</a:t>
            </a:r>
          </a:p>
        </p:txBody>
      </p:sp>
    </p:spTree>
    <p:extLst>
      <p:ext uri="{BB962C8B-B14F-4D97-AF65-F5344CB8AC3E}">
        <p14:creationId xmlns:p14="http://schemas.microsoft.com/office/powerpoint/2010/main" val="847346543"/>
      </p:ext>
    </p:extLst>
  </p:cSld>
</p:sld>
</file>

<file path=ppt/slides/slide5.xml><?xml version="1.0" encoding="utf-8"?>
<p:sld xmlns:p="http://schemas.openxmlformats.org/presentationml/2006/main">
  <p:cSld>
    <p:bg>
      <p:bgPr>
        <a:solidFill xmlns:a="http://schemas.openxmlformats.org/drawingml/2006/main">
          <a:srgbClr val="FCFEFF"/>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307512DE-7CF8-4D50-9E06-157AD8BF6906}"/>
              </a:ext>
            </a:extLst>
          </p:cNvPr>
          <p:cNvSpPr>
            <a:spLocks xmlns:a="http://schemas.openxmlformats.org/drawingml/2006/main" noGrp="1"/>
          </p:cNvSpPr>
          <p:nvPr/>
        </p:nvSpPr>
        <p:spPr>
          <a:xfrm xmlns:a="http://schemas.openxmlformats.org/drawingml/2006/main">
            <a:off x="685800" y="400050"/>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0752A2"/>
                </a:solidFill>
              </a:defRPr>
            </a:defPPr>
          </a:lstStyle>
          <a:p xmlns:a="http://schemas.openxmlformats.org/drawingml/2006/main">
            <a:pPr>
              <a:buNone/>
              <a:defRPr sz="1200" b="1">
                <a:solidFill>
                  <a:srgbClr val="0752A2"/>
                </a:solidFill>
              </a:defRPr>
            </a:pPr>
            <a:r>
              <a:rPr sz="1200" b="1">
                <a:solidFill>
                  <a:srgbClr val="0752A2"/>
                </a:solidFill>
              </a:rPr>
              <a:t>ENGINEERING</a:t>
            </a:r>
          </a:p>
        </p:txBody>
      </p:sp>
      <p:sp>
        <p:nvSpPr>
          <p:cNvPr id="2" name="title">
            <a:extLst xmlns:a="http://schemas.openxmlformats.org/drawingml/2006/main">
              <a:ext uri="{FF2B5EF4-FFF2-40B4-BE49-F238E27FC236}">
                <a16:creationId xmlns:a16="http://schemas.microsoft.com/office/drawing/2014/main" id="{3E5CA811-D35F-4147-831F-37650591284F}"/>
              </a:ext>
            </a:extLst>
          </p:cNvPr>
          <p:cNvSpPr>
            <a:spLocks xmlns:a="http://schemas.openxmlformats.org/drawingml/2006/main" noGrp="1"/>
          </p:cNvSpPr>
          <p:nvPr/>
        </p:nvSpPr>
        <p:spPr>
          <a:xfrm xmlns:a="http://schemas.openxmlformats.org/drawingml/2006/main">
            <a:off x="685800" y="781050"/>
            <a:ext cx="10820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0A2444"/>
                </a:solidFill>
              </a:defRPr>
            </a:defPPr>
          </a:lstStyle>
          <a:p xmlns:a="http://schemas.openxmlformats.org/drawingml/2006/main">
            <a:pPr>
              <a:buNone/>
              <a:defRPr sz="4050" b="1">
                <a:solidFill>
                  <a:srgbClr val="0A2444"/>
                </a:solidFill>
              </a:defRPr>
            </a:pPr>
            <a:r>
              <a:rPr sz="4050" b="1">
                <a:solidFill>
                  <a:srgbClr val="0A2444"/>
                </a:solidFill>
              </a:rPr>
              <a:t>A deployed Compact V2 path</a:t>
            </a:r>
          </a:p>
        </p:txBody>
      </p:sp>
      <p:sp>
        <p:nvSpPr>
          <p:cNvPr id="3" name="rule">
            <a:extLst xmlns:a="http://schemas.openxmlformats.org/drawingml/2006/main">
              <a:ext uri="{FF2B5EF4-FFF2-40B4-BE49-F238E27FC236}">
                <a16:creationId xmlns:a16="http://schemas.microsoft.com/office/drawing/2014/main" id="{CB43174A-2CDD-4ECF-B99D-092E4617DCD3}"/>
              </a:ext>
            </a:extLst>
          </p:cNvPr>
          <p:cNvSpPr>
            <a:spLocks xmlns:a="http://schemas.openxmlformats.org/drawingml/2006/main" noGrp="1"/>
          </p:cNvSpPr>
          <p:nvPr/>
        </p:nvSpPr>
        <p:spPr>
          <a:xfrm xmlns:a="http://schemas.openxmlformats.org/drawingml/2006/main">
            <a:off x="685800" y="1657350"/>
            <a:ext cx="10820400" cy="28575"/>
          </a:xfrm>
          <a:prstGeom xmlns:a="http://schemas.openxmlformats.org/drawingml/2006/main" prst="rect">
            <a:avLst/>
          </a:prstGeom>
          <a:solidFill xmlns:a="http://schemas.openxmlformats.org/drawingml/2006/main">
            <a:srgbClr val="0752A2"/>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226EDB60-5B46-45AA-BF26-9E913EC53310}"/>
              </a:ext>
            </a:extLst>
          </p:cNvPr>
          <p:cNvSpPr>
            <a:spLocks xmlns:a="http://schemas.openxmlformats.org/drawingml/2006/main" noGrp="1"/>
          </p:cNvSpPr>
          <p:nvPr/>
        </p:nvSpPr>
        <p:spPr>
          <a:xfrm xmlns:a="http://schemas.openxmlformats.org/drawingml/2006/main">
            <a:off x="685800" y="6419850"/>
            <a:ext cx="923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0">
                <a:solidFill>
                  <a:srgbClr val="55718D"/>
                </a:solidFill>
              </a:defRPr>
            </a:defPPr>
          </a:lstStyle>
          <a:p xmlns:a="http://schemas.openxmlformats.org/drawingml/2006/main">
            <a:pPr>
              <a:buNone/>
              <a:defRPr sz="975" b="0">
                <a:solidFill>
                  <a:srgbClr val="55718D"/>
                </a:solidFill>
              </a:defRPr>
            </a:pPr>
            <a:r>
              <a:rPr sz="975" b="0">
                <a:solidFill>
                  <a:srgbClr val="55718D"/>
                </a:solidFill>
              </a:rPr>
              <a:t>AEGISBID  /  MIDNIGHT BUILDATHON  /  WAVE 2</a:t>
            </a:r>
          </a:p>
        </p:txBody>
      </p:sp>
      <p:sp>
        <p:nvSpPr>
          <p:cNvPr id="5" name="page">
            <a:extLst xmlns:a="http://schemas.openxmlformats.org/drawingml/2006/main">
              <a:ext uri="{FF2B5EF4-FFF2-40B4-BE49-F238E27FC236}">
                <a16:creationId xmlns:a16="http://schemas.microsoft.com/office/drawing/2014/main" id="{6353682F-0309-4877-9CBF-3BFC3A980676}"/>
              </a:ext>
            </a:extLst>
          </p:cNvPr>
          <p:cNvSpPr>
            <a:spLocks xmlns:a="http://schemas.openxmlformats.org/drawingml/2006/main" noGrp="1"/>
          </p:cNvSpPr>
          <p:nvPr/>
        </p:nvSpPr>
        <p:spPr>
          <a:xfrm xmlns:a="http://schemas.openxmlformats.org/drawingml/2006/main">
            <a:off x="10858500" y="6419850"/>
            <a:ext cx="647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55718D"/>
                </a:solidFill>
              </a:defRPr>
            </a:defPPr>
          </a:lstStyle>
          <a:p xmlns:a="http://schemas.openxmlformats.org/drawingml/2006/main">
            <a:pPr>
              <a:buNone/>
              <a:defRPr sz="975" b="1">
                <a:solidFill>
                  <a:srgbClr val="55718D"/>
                </a:solidFill>
              </a:defRPr>
            </a:pPr>
            <a:r>
              <a:rPr sz="975" b="1">
                <a:solidFill>
                  <a:srgbClr val="55718D"/>
                </a:solidFill>
              </a:rPr>
              <a:t>05</a:t>
            </a:r>
          </a:p>
        </p:txBody>
      </p:sp>
      <p:sp>
        <p:nvSpPr>
          <p:cNvPr id="6" name="main fact">
            <a:extLst xmlns:a="http://schemas.openxmlformats.org/drawingml/2006/main">
              <a:ext uri="{FF2B5EF4-FFF2-40B4-BE49-F238E27FC236}">
                <a16:creationId xmlns:a16="http://schemas.microsoft.com/office/drawing/2014/main" id="{1A5540CB-64E7-480B-AD87-43062B58DDB3}"/>
              </a:ext>
            </a:extLst>
          </p:cNvPr>
          <p:cNvSpPr>
            <a:spLocks xmlns:a="http://schemas.openxmlformats.org/drawingml/2006/main" noGrp="1"/>
          </p:cNvSpPr>
          <p:nvPr/>
        </p:nvSpPr>
        <p:spPr>
          <a:xfrm xmlns:a="http://schemas.openxmlformats.org/drawingml/2006/main">
            <a:off x="781050" y="20955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700" b="1">
                <a:solidFill>
                  <a:srgbClr val="0752A2"/>
                </a:solidFill>
              </a:defRPr>
            </a:defPPr>
          </a:lstStyle>
          <a:p xmlns:a="http://schemas.openxmlformats.org/drawingml/2006/main">
            <a:pPr>
              <a:buNone/>
              <a:defRPr sz="2700" b="1">
                <a:solidFill>
                  <a:srgbClr val="0752A2"/>
                </a:solidFill>
              </a:defRPr>
            </a:pPr>
            <a:r>
              <a:rPr sz="2700" b="1">
                <a:solidFill>
                  <a:srgbClr val="0752A2"/>
                </a:solidFill>
              </a:rPr>
              <a:t>Compact V2 on Midnight Preprod</a:t>
            </a:r>
          </a:p>
        </p:txBody>
      </p:sp>
      <p:sp>
        <p:nvSpPr>
          <p:cNvPr id="7" name="sub fact">
            <a:extLst xmlns:a="http://schemas.openxmlformats.org/drawingml/2006/main">
              <a:ext uri="{FF2B5EF4-FFF2-40B4-BE49-F238E27FC236}">
                <a16:creationId xmlns:a16="http://schemas.microsoft.com/office/drawing/2014/main" id="{69B714DE-5B13-408B-9D9B-A4F1683AEB59}"/>
              </a:ext>
            </a:extLst>
          </p:cNvPr>
          <p:cNvSpPr>
            <a:spLocks xmlns:a="http://schemas.openxmlformats.org/drawingml/2006/main" noGrp="1"/>
          </p:cNvSpPr>
          <p:nvPr/>
        </p:nvSpPr>
        <p:spPr>
          <a:xfrm xmlns:a="http://schemas.openxmlformats.org/drawingml/2006/main">
            <a:off x="781050" y="2686050"/>
            <a:ext cx="10382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55718D"/>
                </a:solidFill>
              </a:defRPr>
            </a:defPPr>
          </a:lstStyle>
          <a:p xmlns:a="http://schemas.openxmlformats.org/drawingml/2006/main">
            <a:pPr>
              <a:buNone/>
              <a:defRPr sz="1725" b="0">
                <a:solidFill>
                  <a:srgbClr val="55718D"/>
                </a:solidFill>
              </a:defRPr>
            </a:pPr>
            <a:r>
              <a:rPr sz="1725" b="0">
                <a:solidFill>
                  <a:srgbClr val="55718D"/>
                </a:solidFill>
              </a:rPr>
              <a:t>1AM wallet integration  /  Ledger 8  /  generated contract bindings</a:t>
            </a:r>
          </a:p>
        </p:txBody>
      </p:sp>
      <p:sp>
        <p:nvSpPr>
          <p:cNvPr id="8" name="rule1">
            <a:extLst xmlns:a="http://schemas.openxmlformats.org/drawingml/2006/main">
              <a:ext uri="{FF2B5EF4-FFF2-40B4-BE49-F238E27FC236}">
                <a16:creationId xmlns:a16="http://schemas.microsoft.com/office/drawing/2014/main" id="{67A705E3-AECC-41EA-AF9F-CAF797710DF6}"/>
              </a:ext>
            </a:extLst>
          </p:cNvPr>
          <p:cNvSpPr>
            <a:spLocks xmlns:a="http://schemas.openxmlformats.org/drawingml/2006/main" noGrp="1"/>
          </p:cNvSpPr>
          <p:nvPr/>
        </p:nvSpPr>
        <p:spPr>
          <a:xfrm xmlns:a="http://schemas.openxmlformats.org/drawingml/2006/main">
            <a:off x="781050" y="3390900"/>
            <a:ext cx="10382250" cy="19050"/>
          </a:xfrm>
          <a:prstGeom xmlns:a="http://schemas.openxmlformats.org/drawingml/2006/main" prst="rect">
            <a:avLst/>
          </a:prstGeom>
          <a:solidFill xmlns:a="http://schemas.openxmlformats.org/drawingml/2006/main">
            <a:srgbClr val="BBD2E4"/>
          </a:solidFill>
          <a:ln xmlns:a="http://schemas.openxmlformats.org/drawingml/2006/main" w="0">
            <a:noFill/>
            <a:prstDash val="solid"/>
          </a:ln>
        </p:spPr>
      </p:sp>
      <p:sp>
        <p:nvSpPr>
          <p:cNvPr id="9" name="engineering copy">
            <a:extLst xmlns:a="http://schemas.openxmlformats.org/drawingml/2006/main">
              <a:ext uri="{FF2B5EF4-FFF2-40B4-BE49-F238E27FC236}">
                <a16:creationId xmlns:a16="http://schemas.microsoft.com/office/drawing/2014/main" id="{71B99CD2-0FDD-46D6-9FA6-3A34D1006B3B}"/>
              </a:ext>
            </a:extLst>
          </p:cNvPr>
          <p:cNvSpPr>
            <a:spLocks xmlns:a="http://schemas.openxmlformats.org/drawingml/2006/main" noGrp="1"/>
          </p:cNvSpPr>
          <p:nvPr/>
        </p:nvSpPr>
        <p:spPr>
          <a:xfrm xmlns:a="http://schemas.openxmlformats.org/drawingml/2006/main">
            <a:off x="781050" y="3695700"/>
            <a:ext cx="10191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A2444"/>
                </a:solidFill>
              </a:defRPr>
            </a:defPPr>
          </a:lstStyle>
          <a:p xmlns:a="http://schemas.openxmlformats.org/drawingml/2006/main">
            <a:pPr>
              <a:buNone/>
              <a:defRPr sz="1875" b="0">
                <a:solidFill>
                  <a:srgbClr val="0A2444"/>
                </a:solidFill>
              </a:defRPr>
            </a:pPr>
            <a:r>
              <a:rPr sz="1875" b="0">
                <a:solidFill>
                  <a:srgbClr val="0A2444"/>
                </a:solidFill>
              </a:rPr>
              <a:t>The contract uses ledger block time for closing and evaluation. It checks the evaluator capability, bid commitments, and the reserve or ceiling. It compares supplied candidate amounts, but does not require distinct witnesses. A repeated bid can mask an omitted one, so V2 does not prove complete-set optimality. Settlement is bounded to eight bids.</a:t>
            </a:r>
          </a:p>
        </p:txBody>
      </p:sp>
      <p:sp>
        <p:nvSpPr>
          <p:cNvPr id="10" name="address">
            <a:extLst xmlns:a="http://schemas.openxmlformats.org/drawingml/2006/main">
              <a:ext uri="{FF2B5EF4-FFF2-40B4-BE49-F238E27FC236}">
                <a16:creationId xmlns:a16="http://schemas.microsoft.com/office/drawing/2014/main" id="{7FBB3E3B-A482-470E-8EF4-D5FDDDE5568C}"/>
              </a:ext>
            </a:extLst>
          </p:cNvPr>
          <p:cNvSpPr>
            <a:spLocks xmlns:a="http://schemas.openxmlformats.org/drawingml/2006/main" noGrp="1"/>
          </p:cNvSpPr>
          <p:nvPr/>
        </p:nvSpPr>
        <p:spPr>
          <a:xfrm xmlns:a="http://schemas.openxmlformats.org/drawingml/2006/main">
            <a:off x="781050" y="5772150"/>
            <a:ext cx="1019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55718D"/>
                </a:solidFill>
              </a:defRPr>
            </a:defPPr>
          </a:lstStyle>
          <a:p xmlns:a="http://schemas.openxmlformats.org/drawingml/2006/main">
            <a:pPr>
              <a:buNone/>
              <a:defRPr sz="1275" b="0">
                <a:solidFill>
                  <a:srgbClr val="55718D"/>
                </a:solidFill>
              </a:defRPr>
            </a:pPr>
            <a:r>
              <a:rPr sz="1275" b="0">
                <a:solidFill>
                  <a:srgbClr val="55718D"/>
                </a:solidFill>
              </a:rPr>
              <a:t>Preprod contract: 21b2efc6…e9bdc957  ·  full address and proof-asset details in README</a:t>
            </a:r>
          </a:p>
        </p:txBody>
      </p:sp>
    </p:spTree>
    <p:extLst>
      <p:ext uri="{BB962C8B-B14F-4D97-AF65-F5344CB8AC3E}">
        <p14:creationId xmlns:p14="http://schemas.microsoft.com/office/powerpoint/2010/main" val="574969209"/>
      </p:ext>
    </p:extLst>
  </p:cSld>
</p:sld>
</file>

<file path=ppt/slides/slide6.xml><?xml version="1.0" encoding="utf-8"?>
<p:sld xmlns:p="http://schemas.openxmlformats.org/presentationml/2006/main">
  <p:cSld>
    <p:bg>
      <p:bgPr>
        <a:solidFill xmlns:a="http://schemas.openxmlformats.org/drawingml/2006/main">
          <a:srgbClr val="FCFEFF"/>
        </a:solidFill>
      </p:bgPr>
    </p:bg>
    <p:spTree>
      <p:nvGrpSpPr>
        <p:cNvPr id="1" name=""/>
        <p:cNvGrpSpPr/>
        <p:nvPr/>
      </p:nvGrpSpPr>
      <p:grpSpPr>
        <a:xfrm xmlns:a="http://schemas.openxmlformats.org/drawingml/2006/main"/>
      </p:grpSpPr>
      <p:sp>
        <p:nvSpPr>
          <p:cNvPr id="12" name="section">
            <a:extLst xmlns:a="http://schemas.openxmlformats.org/drawingml/2006/main">
              <a:ext uri="{FF2B5EF4-FFF2-40B4-BE49-F238E27FC236}">
                <a16:creationId xmlns:a16="http://schemas.microsoft.com/office/drawing/2014/main" id="{F4F22A32-4E61-45E1-8468-9CAFF688A618}"/>
              </a:ext>
            </a:extLst>
          </p:cNvPr>
          <p:cNvSpPr>
            <a:spLocks xmlns:a="http://schemas.openxmlformats.org/drawingml/2006/main" noGrp="1"/>
          </p:cNvSpPr>
          <p:nvPr/>
        </p:nvSpPr>
        <p:spPr>
          <a:xfrm xmlns:a="http://schemas.openxmlformats.org/drawingml/2006/main">
            <a:off x="685800" y="400050"/>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0752A2"/>
                </a:solidFill>
              </a:defRPr>
            </a:defPPr>
          </a:lstStyle>
          <a:p xmlns:a="http://schemas.openxmlformats.org/drawingml/2006/main">
            <a:pPr>
              <a:buNone/>
              <a:defRPr sz="1200" b="1">
                <a:solidFill>
                  <a:srgbClr val="0752A2"/>
                </a:solidFill>
              </a:defRPr>
            </a:pPr>
            <a:r>
              <a:rPr sz="1200" b="1">
                <a:solidFill>
                  <a:srgbClr val="0752A2"/>
                </a:solidFill>
              </a:rPr>
              <a:t>QUALITY AND LIMITS</a:t>
            </a:r>
          </a:p>
        </p:txBody>
      </p:sp>
      <p:sp>
        <p:nvSpPr>
          <p:cNvPr id="2" name="title">
            <a:extLst xmlns:a="http://schemas.openxmlformats.org/drawingml/2006/main">
              <a:ext uri="{FF2B5EF4-FFF2-40B4-BE49-F238E27FC236}">
                <a16:creationId xmlns:a16="http://schemas.microsoft.com/office/drawing/2014/main" id="{03E71C87-FC5A-4BA4-A070-ADFB54838BF3}"/>
              </a:ext>
            </a:extLst>
          </p:cNvPr>
          <p:cNvSpPr>
            <a:spLocks xmlns:a="http://schemas.openxmlformats.org/drawingml/2006/main" noGrp="1"/>
          </p:cNvSpPr>
          <p:nvPr/>
        </p:nvSpPr>
        <p:spPr>
          <a:xfrm xmlns:a="http://schemas.openxmlformats.org/drawingml/2006/main">
            <a:off x="685800" y="781050"/>
            <a:ext cx="10820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0A2444"/>
                </a:solidFill>
              </a:defRPr>
            </a:defPPr>
          </a:lstStyle>
          <a:p xmlns:a="http://schemas.openxmlformats.org/drawingml/2006/main">
            <a:pPr>
              <a:buNone/>
              <a:defRPr sz="4050" b="1">
                <a:solidFill>
                  <a:srgbClr val="0A2444"/>
                </a:solidFill>
              </a:defRPr>
            </a:pPr>
            <a:r>
              <a:rPr sz="4050" b="1">
                <a:solidFill>
                  <a:srgbClr val="0A2444"/>
                </a:solidFill>
              </a:rPr>
              <a:t>Evidence and known limits</a:t>
            </a:r>
          </a:p>
        </p:txBody>
      </p:sp>
      <p:sp>
        <p:nvSpPr>
          <p:cNvPr id="3" name="rule">
            <a:extLst xmlns:a="http://schemas.openxmlformats.org/drawingml/2006/main">
              <a:ext uri="{FF2B5EF4-FFF2-40B4-BE49-F238E27FC236}">
                <a16:creationId xmlns:a16="http://schemas.microsoft.com/office/drawing/2014/main" id="{9C01BF70-77D8-4F89-985B-BFED0745FFC0}"/>
              </a:ext>
            </a:extLst>
          </p:cNvPr>
          <p:cNvSpPr>
            <a:spLocks xmlns:a="http://schemas.openxmlformats.org/drawingml/2006/main" noGrp="1"/>
          </p:cNvSpPr>
          <p:nvPr/>
        </p:nvSpPr>
        <p:spPr>
          <a:xfrm xmlns:a="http://schemas.openxmlformats.org/drawingml/2006/main">
            <a:off x="685800" y="1657350"/>
            <a:ext cx="10820400" cy="28575"/>
          </a:xfrm>
          <a:prstGeom xmlns:a="http://schemas.openxmlformats.org/drawingml/2006/main" prst="rect">
            <a:avLst/>
          </a:prstGeom>
          <a:solidFill xmlns:a="http://schemas.openxmlformats.org/drawingml/2006/main">
            <a:srgbClr val="0752A2"/>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485965E8-DC46-4E5C-8FEE-529B6F5F993C}"/>
              </a:ext>
            </a:extLst>
          </p:cNvPr>
          <p:cNvSpPr>
            <a:spLocks xmlns:a="http://schemas.openxmlformats.org/drawingml/2006/main" noGrp="1"/>
          </p:cNvSpPr>
          <p:nvPr/>
        </p:nvSpPr>
        <p:spPr>
          <a:xfrm xmlns:a="http://schemas.openxmlformats.org/drawingml/2006/main">
            <a:off x="685800" y="6419850"/>
            <a:ext cx="923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0">
                <a:solidFill>
                  <a:srgbClr val="55718D"/>
                </a:solidFill>
              </a:defRPr>
            </a:defPPr>
          </a:lstStyle>
          <a:p xmlns:a="http://schemas.openxmlformats.org/drawingml/2006/main">
            <a:pPr>
              <a:buNone/>
              <a:defRPr sz="975" b="0">
                <a:solidFill>
                  <a:srgbClr val="55718D"/>
                </a:solidFill>
              </a:defRPr>
            </a:pPr>
            <a:r>
              <a:rPr sz="975" b="0">
                <a:solidFill>
                  <a:srgbClr val="55718D"/>
                </a:solidFill>
              </a:rPr>
              <a:t>AEGISBID  /  MIDNIGHT BUILDATHON  /  WAVE 2</a:t>
            </a:r>
          </a:p>
        </p:txBody>
      </p:sp>
      <p:sp>
        <p:nvSpPr>
          <p:cNvPr id="5" name="page">
            <a:extLst xmlns:a="http://schemas.openxmlformats.org/drawingml/2006/main">
              <a:ext uri="{FF2B5EF4-FFF2-40B4-BE49-F238E27FC236}">
                <a16:creationId xmlns:a16="http://schemas.microsoft.com/office/drawing/2014/main" id="{3FE4C6F6-1658-41E6-AE51-823EA9A145B3}"/>
              </a:ext>
            </a:extLst>
          </p:cNvPr>
          <p:cNvSpPr>
            <a:spLocks xmlns:a="http://schemas.openxmlformats.org/drawingml/2006/main" noGrp="1"/>
          </p:cNvSpPr>
          <p:nvPr/>
        </p:nvSpPr>
        <p:spPr>
          <a:xfrm xmlns:a="http://schemas.openxmlformats.org/drawingml/2006/main">
            <a:off x="10858500" y="6419850"/>
            <a:ext cx="647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55718D"/>
                </a:solidFill>
              </a:defRPr>
            </a:defPPr>
          </a:lstStyle>
          <a:p xmlns:a="http://schemas.openxmlformats.org/drawingml/2006/main">
            <a:pPr>
              <a:buNone/>
              <a:defRPr sz="975" b="1">
                <a:solidFill>
                  <a:srgbClr val="55718D"/>
                </a:solidFill>
              </a:defRPr>
            </a:pPr>
            <a:r>
              <a:rPr sz="975" b="1">
                <a:solidFill>
                  <a:srgbClr val="55718D"/>
                </a:solidFill>
              </a:rPr>
              <a:t>06</a:t>
            </a:r>
          </a:p>
        </p:txBody>
      </p:sp>
      <p:sp>
        <p:nvSpPr>
          <p:cNvPr id="6" name="test label">
            <a:extLst xmlns:a="http://schemas.openxmlformats.org/drawingml/2006/main">
              <a:ext uri="{FF2B5EF4-FFF2-40B4-BE49-F238E27FC236}">
                <a16:creationId xmlns:a16="http://schemas.microsoft.com/office/drawing/2014/main" id="{BD6CE252-99C3-498F-A83D-E3BF348D7222}"/>
              </a:ext>
            </a:extLst>
          </p:cNvPr>
          <p:cNvSpPr>
            <a:spLocks xmlns:a="http://schemas.openxmlformats.org/drawingml/2006/main" noGrp="1"/>
          </p:cNvSpPr>
          <p:nvPr/>
        </p:nvSpPr>
        <p:spPr>
          <a:xfrm xmlns:a="http://schemas.openxmlformats.org/drawingml/2006/main">
            <a:off x="78105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0752A2"/>
                </a:solidFill>
              </a:defRPr>
            </a:defPPr>
          </a:lstStyle>
          <a:p xmlns:a="http://schemas.openxmlformats.org/drawingml/2006/main">
            <a:pPr>
              <a:buNone/>
              <a:defRPr sz="1350" b="1">
                <a:solidFill>
                  <a:srgbClr val="0752A2"/>
                </a:solidFill>
              </a:defRPr>
            </a:pPr>
            <a:r>
              <a:rPr sz="1350" b="1">
                <a:solidFill>
                  <a:srgbClr val="0752A2"/>
                </a:solidFill>
              </a:rPr>
              <a:t>REPRODUCIBLE CHECKS</a:t>
            </a:r>
          </a:p>
        </p:txBody>
      </p:sp>
      <p:sp>
        <p:nvSpPr>
          <p:cNvPr id="7" name="test commands">
            <a:extLst xmlns:a="http://schemas.openxmlformats.org/drawingml/2006/main">
              <a:ext uri="{FF2B5EF4-FFF2-40B4-BE49-F238E27FC236}">
                <a16:creationId xmlns:a16="http://schemas.microsoft.com/office/drawing/2014/main" id="{B27ABD3A-BB7D-4036-9AF5-D147A35A61D0}"/>
              </a:ext>
            </a:extLst>
          </p:cNvPr>
          <p:cNvSpPr>
            <a:spLocks xmlns:a="http://schemas.openxmlformats.org/drawingml/2006/main" noGrp="1"/>
          </p:cNvSpPr>
          <p:nvPr/>
        </p:nvSpPr>
        <p:spPr>
          <a:xfrm xmlns:a="http://schemas.openxmlformats.org/drawingml/2006/main">
            <a:off x="781050" y="2667000"/>
            <a:ext cx="51435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A2444"/>
                </a:solidFill>
              </a:defRPr>
            </a:defPPr>
          </a:lstStyle>
          <a:p xmlns:a="http://schemas.openxmlformats.org/drawingml/2006/main">
            <a:pPr>
              <a:buNone/>
              <a:defRPr sz="1875" b="0">
                <a:solidFill>
                  <a:srgbClr val="0A2444"/>
                </a:solidFill>
              </a:defRPr>
            </a:pPr>
            <a:r>
              <a:rPr sz="1875" b="0">
                <a:solidFill>
                  <a:srgbClr val="0A2444"/>
                </a:solidFill>
              </a:rPr>
              <a:t>npm test</a:t>
            </a:r>
          </a:p>
          <a:p xmlns:a="http://schemas.openxmlformats.org/drawingml/2006/main">
            <a:pPr>
              <a:buNone/>
              <a:defRPr sz="1875" b="0">
                <a:solidFill>
                  <a:srgbClr val="0A2444"/>
                </a:solidFill>
              </a:defRPr>
            </a:pPr>
            <a:r>
              <a:rPr sz="1875" b="0">
                <a:solidFill>
                  <a:srgbClr val="0A2444"/>
                </a:solidFill>
              </a:rPr>
              <a:t>npm run compact:v2:check</a:t>
            </a:r>
          </a:p>
          <a:p xmlns:a="http://schemas.openxmlformats.org/drawingml/2006/main">
            <a:pPr>
              <a:buNone/>
              <a:defRPr sz="1875" b="0">
                <a:solidFill>
                  <a:srgbClr val="0A2444"/>
                </a:solidFill>
              </a:defRPr>
            </a:pPr>
            <a:r>
              <a:rPr sz="1875" b="0">
                <a:solidFill>
                  <a:srgbClr val="0A2444"/>
                </a:solidFill>
              </a:rPr>
              <a:t>npm run build</a:t>
            </a:r>
          </a:p>
        </p:txBody>
      </p:sp>
      <p:sp>
        <p:nvSpPr>
          <p:cNvPr id="8" name="divider">
            <a:extLst xmlns:a="http://schemas.openxmlformats.org/drawingml/2006/main">
              <a:ext uri="{FF2B5EF4-FFF2-40B4-BE49-F238E27FC236}">
                <a16:creationId xmlns:a16="http://schemas.microsoft.com/office/drawing/2014/main" id="{0F7DF886-22EB-4FBF-A4D2-12D5E563FC06}"/>
              </a:ext>
            </a:extLst>
          </p:cNvPr>
          <p:cNvSpPr>
            <a:spLocks xmlns:a="http://schemas.openxmlformats.org/drawingml/2006/main" noGrp="1"/>
          </p:cNvSpPr>
          <p:nvPr/>
        </p:nvSpPr>
        <p:spPr>
          <a:xfrm xmlns:a="http://schemas.openxmlformats.org/drawingml/2006/main">
            <a:off x="6229350" y="2133600"/>
            <a:ext cx="19050" cy="2857500"/>
          </a:xfrm>
          <a:prstGeom xmlns:a="http://schemas.openxmlformats.org/drawingml/2006/main" prst="rect">
            <a:avLst/>
          </a:prstGeom>
          <a:solidFill xmlns:a="http://schemas.openxmlformats.org/drawingml/2006/main">
            <a:srgbClr val="BBD2E4"/>
          </a:solidFill>
          <a:ln xmlns:a="http://schemas.openxmlformats.org/drawingml/2006/main" w="0">
            <a:noFill/>
            <a:prstDash val="solid"/>
          </a:ln>
        </p:spPr>
      </p:sp>
      <p:sp>
        <p:nvSpPr>
          <p:cNvPr id="9" name="limits label">
            <a:extLst xmlns:a="http://schemas.openxmlformats.org/drawingml/2006/main">
              <a:ext uri="{FF2B5EF4-FFF2-40B4-BE49-F238E27FC236}">
                <a16:creationId xmlns:a16="http://schemas.microsoft.com/office/drawing/2014/main" id="{59E789E4-569A-472F-8E7B-43A84EBF432C}"/>
              </a:ext>
            </a:extLst>
          </p:cNvPr>
          <p:cNvSpPr>
            <a:spLocks xmlns:a="http://schemas.openxmlformats.org/drawingml/2006/main" noGrp="1"/>
          </p:cNvSpPr>
          <p:nvPr/>
        </p:nvSpPr>
        <p:spPr>
          <a:xfrm xmlns:a="http://schemas.openxmlformats.org/drawingml/2006/main">
            <a:off x="6762750" y="2095500"/>
            <a:ext cx="4572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26A97A"/>
                </a:solidFill>
              </a:defRPr>
            </a:defPPr>
          </a:lstStyle>
          <a:p xmlns:a="http://schemas.openxmlformats.org/drawingml/2006/main">
            <a:pPr>
              <a:buNone/>
              <a:defRPr sz="1350" b="1">
                <a:solidFill>
                  <a:srgbClr val="26A97A"/>
                </a:solidFill>
              </a:defRPr>
            </a:pPr>
            <a:r>
              <a:rPr sz="1350" b="1">
                <a:solidFill>
                  <a:srgbClr val="26A97A"/>
                </a:solidFill>
              </a:rPr>
              <a:t>KNOWN LIMITS</a:t>
            </a:r>
          </a:p>
        </p:txBody>
      </p:sp>
      <p:sp>
        <p:nvSpPr>
          <p:cNvPr id="10" name="limits copy">
            <a:extLst xmlns:a="http://schemas.openxmlformats.org/drawingml/2006/main">
              <a:ext uri="{FF2B5EF4-FFF2-40B4-BE49-F238E27FC236}">
                <a16:creationId xmlns:a16="http://schemas.microsoft.com/office/drawing/2014/main" id="{4C208064-9922-498C-98F9-B3CD57948BE0}"/>
              </a:ext>
            </a:extLst>
          </p:cNvPr>
          <p:cNvSpPr>
            <a:spLocks xmlns:a="http://schemas.openxmlformats.org/drawingml/2006/main" noGrp="1"/>
          </p:cNvSpPr>
          <p:nvPr/>
        </p:nvSpPr>
        <p:spPr>
          <a:xfrm xmlns:a="http://schemas.openxmlformats.org/drawingml/2006/main">
            <a:off x="6762750" y="2667000"/>
            <a:ext cx="45529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0A2444"/>
                </a:solidFill>
              </a:defRPr>
            </a:defPPr>
          </a:lstStyle>
          <a:p xmlns:a="http://schemas.openxmlformats.org/drawingml/2006/main">
            <a:pPr>
              <a:buNone/>
              <a:defRPr sz="1650" b="0">
                <a:solidFill>
                  <a:srgbClr val="0A2444"/>
                </a:solidFill>
              </a:defRPr>
            </a:pPr>
            <a:r>
              <a:rPr sz="1650" b="0">
                <a:solidFill>
                  <a:srgbClr val="0A2444"/>
                </a:solidFill>
              </a:rPr>
              <a:t>Eight bids per tender.</a:t>
            </a:r>
          </a:p>
          <a:p xmlns:a="http://schemas.openxmlformats.org/drawingml/2006/main">
            <a:pPr>
              <a:buNone/>
              <a:defRPr sz="1650" b="0">
                <a:solidFill>
                  <a:srgbClr val="0A2444"/>
                </a:solidFill>
              </a:defRPr>
            </a:pPr>
            <a:r>
              <a:rPr sz="1650" b="0">
                <a:solidFill>
                  <a:srgbClr val="0A2444"/>
                </a:solidFill>
              </a:rPr>
              <a:t>Supplied keys do not prove real identity.</a:t>
            </a:r>
          </a:p>
          <a:p xmlns:a="http://schemas.openxmlformats.org/drawingml/2006/main">
            <a:pPr>
              <a:buNone/>
              <a:defRPr sz="1650" b="0">
                <a:solidFill>
                  <a:srgbClr val="0A2444"/>
                </a:solidFill>
              </a:defRPr>
            </a:pPr>
            <a:r>
              <a:rPr sz="1650" b="0">
                <a:solidFill>
                  <a:srgbClr val="0A2444"/>
                </a:solidFill>
              </a:rPr>
              <a:t>V2 does not require distinct settlement witnesses, so it cannot prove the full set was evaluated or the true optimum selected.</a:t>
            </a:r>
          </a:p>
          <a:p xmlns:a="http://schemas.openxmlformats.org/drawingml/2006/main">
            <a:pPr>
              <a:buNone/>
              <a:defRPr sz="1650" b="0">
                <a:solidFill>
                  <a:srgbClr val="0A2444"/>
                </a:solidFill>
              </a:defRPr>
            </a:pPr>
            <a:r>
              <a:rPr sz="1650" b="0">
                <a:solidFill>
                  <a:srgbClr val="0A2444"/>
                </a:solidFill>
              </a:rPr>
              <a:t>Witness handoff needs a trusted channel.</a:t>
            </a:r>
          </a:p>
          <a:p xmlns:a="http://schemas.openxmlformats.org/drawingml/2006/main">
            <a:pPr>
              <a:buNone/>
              <a:defRPr sz="1650" b="0">
                <a:solidFill>
                  <a:srgbClr val="0A2444"/>
                </a:solidFill>
              </a:defRPr>
            </a:pPr>
            <a:r>
              <a:rPr sz="1650" b="0">
                <a:solidFill>
                  <a:srgbClr val="0A2444"/>
                </a:solidFill>
              </a:rPr>
              <a:t>1AM proof preparation can take minutes.</a:t>
            </a:r>
          </a:p>
          <a:p xmlns:a="http://schemas.openxmlformats.org/drawingml/2006/main">
            <a:pPr>
              <a:buNone/>
              <a:defRPr sz="1650" b="0">
                <a:solidFill>
                  <a:srgbClr val="0A2444"/>
                </a:solidFill>
              </a:defRPr>
            </a:pPr>
            <a:r>
              <a:rPr sz="1650" b="0">
                <a:solidFill>
                  <a:srgbClr val="0A2444"/>
                </a:solidFill>
              </a:rPr>
              <a:t>No audit or payment transfer.</a:t>
            </a:r>
          </a:p>
        </p:txBody>
      </p:sp>
      <p:sp>
        <p:nvSpPr>
          <p:cNvPr id="11" name="compile note">
            <a:extLst xmlns:a="http://schemas.openxmlformats.org/drawingml/2006/main">
              <a:ext uri="{FF2B5EF4-FFF2-40B4-BE49-F238E27FC236}">
                <a16:creationId xmlns:a16="http://schemas.microsoft.com/office/drawing/2014/main" id="{AEC8ED48-ACDB-48E4-9115-6D81935B89DB}"/>
              </a:ext>
            </a:extLst>
          </p:cNvPr>
          <p:cNvSpPr>
            <a:spLocks xmlns:a="http://schemas.openxmlformats.org/drawingml/2006/main" noGrp="1"/>
          </p:cNvSpPr>
          <p:nvPr/>
        </p:nvSpPr>
        <p:spPr>
          <a:xfrm xmlns:a="http://schemas.openxmlformats.org/drawingml/2006/main">
            <a:off x="781050" y="53911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55718D"/>
                </a:solidFill>
              </a:defRPr>
            </a:defPPr>
          </a:lstStyle>
          <a:p xmlns:a="http://schemas.openxmlformats.org/drawingml/2006/main">
            <a:pPr>
              <a:buNone/>
              <a:defRPr sz="1575" b="1">
                <a:solidFill>
                  <a:srgbClr val="55718D"/>
                </a:solidFill>
              </a:defRPr>
            </a:pPr>
            <a:r>
              <a:rPr sz="1575" b="1">
                <a:solidFill>
                  <a:srgbClr val="55718D"/>
                </a:solidFill>
              </a:rPr>
              <a:t>Run a fresh full Compact compile on a compatible builder for judging evidence. The static gate alone does not compile the contract.</a:t>
            </a:r>
          </a:p>
        </p:txBody>
      </p:sp>
    </p:spTree>
    <p:extLst>
      <p:ext uri="{BB962C8B-B14F-4D97-AF65-F5344CB8AC3E}">
        <p14:creationId xmlns:p14="http://schemas.microsoft.com/office/powerpoint/2010/main" val="926478671"/>
      </p:ext>
    </p:extLst>
  </p:cSld>
</p:sld>
</file>

<file path=ppt/slides/slide7.xml><?xml version="1.0" encoding="utf-8"?>
<p:sld xmlns:p="http://schemas.openxmlformats.org/presentationml/2006/main">
  <p:cSld>
    <p:bg>
      <p:bgPr>
        <a:solidFill xmlns:a="http://schemas.openxmlformats.org/drawingml/2006/main">
          <a:srgbClr val="FCFEFF"/>
        </a:solidFill>
      </p:bgPr>
    </p:bg>
    <p:spTree>
      <p:nvGrpSpPr>
        <p:cNvPr id="1" name=""/>
        <p:cNvGrpSpPr/>
        <p:nvPr/>
      </p:nvGrpSpPr>
      <p:grpSpPr>
        <a:xfrm xmlns:a="http://schemas.openxmlformats.org/drawingml/2006/main"/>
      </p:grpSpPr>
      <p:sp>
        <p:nvSpPr>
          <p:cNvPr id="12" name="section">
            <a:extLst xmlns:a="http://schemas.openxmlformats.org/drawingml/2006/main">
              <a:ext uri="{FF2B5EF4-FFF2-40B4-BE49-F238E27FC236}">
                <a16:creationId xmlns:a16="http://schemas.microsoft.com/office/drawing/2014/main" id="{C857EEB3-63CC-492B-B16D-CDF24373B0D1}"/>
              </a:ext>
            </a:extLst>
          </p:cNvPr>
          <p:cNvSpPr>
            <a:spLocks xmlns:a="http://schemas.openxmlformats.org/drawingml/2006/main" noGrp="1"/>
          </p:cNvSpPr>
          <p:nvPr/>
        </p:nvSpPr>
        <p:spPr>
          <a:xfrm xmlns:a="http://schemas.openxmlformats.org/drawingml/2006/main">
            <a:off x="685800" y="400050"/>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0752A2"/>
                </a:solidFill>
              </a:defRPr>
            </a:defPPr>
          </a:lstStyle>
          <a:p xmlns:a="http://schemas.openxmlformats.org/drawingml/2006/main">
            <a:pPr>
              <a:buNone/>
              <a:defRPr sz="1200" b="1">
                <a:solidFill>
                  <a:srgbClr val="0752A2"/>
                </a:solidFill>
              </a:defRPr>
            </a:pPr>
            <a:r>
              <a:rPr sz="1200" b="1">
                <a:solidFill>
                  <a:srgbClr val="0752A2"/>
                </a:solidFill>
              </a:rPr>
              <a:t>PRODUCT PATH</a:t>
            </a:r>
          </a:p>
        </p:txBody>
      </p:sp>
      <p:sp>
        <p:nvSpPr>
          <p:cNvPr id="2" name="title">
            <a:extLst xmlns:a="http://schemas.openxmlformats.org/drawingml/2006/main">
              <a:ext uri="{FF2B5EF4-FFF2-40B4-BE49-F238E27FC236}">
                <a16:creationId xmlns:a16="http://schemas.microsoft.com/office/drawing/2014/main" id="{C09E7C81-AC3C-4B5B-9699-B551645E13A1}"/>
              </a:ext>
            </a:extLst>
          </p:cNvPr>
          <p:cNvSpPr>
            <a:spLocks xmlns:a="http://schemas.openxmlformats.org/drawingml/2006/main" noGrp="1"/>
          </p:cNvSpPr>
          <p:nvPr/>
        </p:nvSpPr>
        <p:spPr>
          <a:xfrm xmlns:a="http://schemas.openxmlformats.org/drawingml/2006/main">
            <a:off x="685800" y="781050"/>
            <a:ext cx="10820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0A2444"/>
                </a:solidFill>
              </a:defRPr>
            </a:defPPr>
          </a:lstStyle>
          <a:p xmlns:a="http://schemas.openxmlformats.org/drawingml/2006/main">
            <a:pPr>
              <a:buNone/>
              <a:defRPr sz="4050" b="1">
                <a:solidFill>
                  <a:srgbClr val="0A2444"/>
                </a:solidFill>
              </a:defRPr>
            </a:pPr>
            <a:r>
              <a:rPr sz="4050" b="1">
                <a:solidFill>
                  <a:srgbClr val="0A2444"/>
                </a:solidFill>
              </a:rPr>
              <a:t>A focused path to a real procurement pilot</a:t>
            </a:r>
          </a:p>
        </p:txBody>
      </p:sp>
      <p:sp>
        <p:nvSpPr>
          <p:cNvPr id="3" name="rule">
            <a:extLst xmlns:a="http://schemas.openxmlformats.org/drawingml/2006/main">
              <a:ext uri="{FF2B5EF4-FFF2-40B4-BE49-F238E27FC236}">
                <a16:creationId xmlns:a16="http://schemas.microsoft.com/office/drawing/2014/main" id="{CBCE49B3-4386-40AE-8671-A337BB814EBC}"/>
              </a:ext>
            </a:extLst>
          </p:cNvPr>
          <p:cNvSpPr>
            <a:spLocks xmlns:a="http://schemas.openxmlformats.org/drawingml/2006/main" noGrp="1"/>
          </p:cNvSpPr>
          <p:nvPr/>
        </p:nvSpPr>
        <p:spPr>
          <a:xfrm xmlns:a="http://schemas.openxmlformats.org/drawingml/2006/main">
            <a:off x="685800" y="1657350"/>
            <a:ext cx="10820400" cy="28575"/>
          </a:xfrm>
          <a:prstGeom xmlns:a="http://schemas.openxmlformats.org/drawingml/2006/main" prst="rect">
            <a:avLst/>
          </a:prstGeom>
          <a:solidFill xmlns:a="http://schemas.openxmlformats.org/drawingml/2006/main">
            <a:srgbClr val="0752A2"/>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19C69FED-14B1-4FB5-B912-B4D2570E81B7}"/>
              </a:ext>
            </a:extLst>
          </p:cNvPr>
          <p:cNvSpPr>
            <a:spLocks xmlns:a="http://schemas.openxmlformats.org/drawingml/2006/main" noGrp="1"/>
          </p:cNvSpPr>
          <p:nvPr/>
        </p:nvSpPr>
        <p:spPr>
          <a:xfrm xmlns:a="http://schemas.openxmlformats.org/drawingml/2006/main">
            <a:off x="685800" y="6419850"/>
            <a:ext cx="923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0">
                <a:solidFill>
                  <a:srgbClr val="55718D"/>
                </a:solidFill>
              </a:defRPr>
            </a:defPPr>
          </a:lstStyle>
          <a:p xmlns:a="http://schemas.openxmlformats.org/drawingml/2006/main">
            <a:pPr>
              <a:buNone/>
              <a:defRPr sz="975" b="0">
                <a:solidFill>
                  <a:srgbClr val="55718D"/>
                </a:solidFill>
              </a:defRPr>
            </a:pPr>
            <a:r>
              <a:rPr sz="975" b="0">
                <a:solidFill>
                  <a:srgbClr val="55718D"/>
                </a:solidFill>
              </a:rPr>
              <a:t>AEGISBID  /  MIDNIGHT BUILDATHON  /  WAVE 2</a:t>
            </a:r>
          </a:p>
        </p:txBody>
      </p:sp>
      <p:sp>
        <p:nvSpPr>
          <p:cNvPr id="5" name="page">
            <a:extLst xmlns:a="http://schemas.openxmlformats.org/drawingml/2006/main">
              <a:ext uri="{FF2B5EF4-FFF2-40B4-BE49-F238E27FC236}">
                <a16:creationId xmlns:a16="http://schemas.microsoft.com/office/drawing/2014/main" id="{25203DDD-89DD-4588-98A0-5D4CDEAECD0C}"/>
              </a:ext>
            </a:extLst>
          </p:cNvPr>
          <p:cNvSpPr>
            <a:spLocks xmlns:a="http://schemas.openxmlformats.org/drawingml/2006/main" noGrp="1"/>
          </p:cNvSpPr>
          <p:nvPr/>
        </p:nvSpPr>
        <p:spPr>
          <a:xfrm xmlns:a="http://schemas.openxmlformats.org/drawingml/2006/main">
            <a:off x="10858500" y="6419850"/>
            <a:ext cx="647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55718D"/>
                </a:solidFill>
              </a:defRPr>
            </a:defPPr>
          </a:lstStyle>
          <a:p xmlns:a="http://schemas.openxmlformats.org/drawingml/2006/main">
            <a:pPr>
              <a:buNone/>
              <a:defRPr sz="975" b="1">
                <a:solidFill>
                  <a:srgbClr val="55718D"/>
                </a:solidFill>
              </a:defRPr>
            </a:pPr>
            <a:r>
              <a:rPr sz="975" b="1">
                <a:solidFill>
                  <a:srgbClr val="55718D"/>
                </a:solidFill>
              </a:rPr>
              <a:t>07</a:t>
            </a:r>
          </a:p>
        </p:txBody>
      </p:sp>
      <p:sp>
        <p:nvSpPr>
          <p:cNvPr id="6" name="users label">
            <a:extLst xmlns:a="http://schemas.openxmlformats.org/drawingml/2006/main">
              <a:ext uri="{FF2B5EF4-FFF2-40B4-BE49-F238E27FC236}">
                <a16:creationId xmlns:a16="http://schemas.microsoft.com/office/drawing/2014/main" id="{41D02E4B-96CA-4830-B4EC-9CD51B718219}"/>
              </a:ext>
            </a:extLst>
          </p:cNvPr>
          <p:cNvSpPr>
            <a:spLocks xmlns:a="http://schemas.openxmlformats.org/drawingml/2006/main" noGrp="1"/>
          </p:cNvSpPr>
          <p:nvPr/>
        </p:nvSpPr>
        <p:spPr>
          <a:xfrm xmlns:a="http://schemas.openxmlformats.org/drawingml/2006/main">
            <a:off x="781050" y="2095500"/>
            <a:ext cx="1019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0752A2"/>
                </a:solidFill>
              </a:defRPr>
            </a:defPPr>
          </a:lstStyle>
          <a:p xmlns:a="http://schemas.openxmlformats.org/drawingml/2006/main">
            <a:pPr>
              <a:buNone/>
              <a:defRPr sz="1350" b="1">
                <a:solidFill>
                  <a:srgbClr val="0752A2"/>
                </a:solidFill>
              </a:defRPr>
            </a:pPr>
            <a:r>
              <a:rPr sz="1350" b="1">
                <a:solidFill>
                  <a:srgbClr val="0752A2"/>
                </a:solidFill>
              </a:rPr>
              <a:t>FIRST USERS</a:t>
            </a:r>
          </a:p>
        </p:txBody>
      </p:sp>
      <p:sp>
        <p:nvSpPr>
          <p:cNvPr id="7" name="users copy">
            <a:extLst xmlns:a="http://schemas.openxmlformats.org/drawingml/2006/main">
              <a:ext uri="{FF2B5EF4-FFF2-40B4-BE49-F238E27FC236}">
                <a16:creationId xmlns:a16="http://schemas.microsoft.com/office/drawing/2014/main" id="{EED5A827-5E15-48DF-ACCE-BBF0DADE3ED9}"/>
              </a:ext>
            </a:extLst>
          </p:cNvPr>
          <p:cNvSpPr>
            <a:spLocks xmlns:a="http://schemas.openxmlformats.org/drawingml/2006/main" noGrp="1"/>
          </p:cNvSpPr>
          <p:nvPr/>
        </p:nvSpPr>
        <p:spPr>
          <a:xfrm xmlns:a="http://schemas.openxmlformats.org/drawingml/2006/main">
            <a:off x="781050" y="2600325"/>
            <a:ext cx="1019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0A2444"/>
                </a:solidFill>
              </a:defRPr>
            </a:defPPr>
          </a:lstStyle>
          <a:p xmlns:a="http://schemas.openxmlformats.org/drawingml/2006/main">
            <a:pPr>
              <a:buNone/>
              <a:defRPr sz="2100" b="0">
                <a:solidFill>
                  <a:srgbClr val="0A2444"/>
                </a:solidFill>
              </a:defRPr>
            </a:pPr>
            <a:r>
              <a:rPr sz="2100" b="0">
                <a:solidFill>
                  <a:srgbClr val="0A2444"/>
                </a:solidFill>
              </a:rPr>
              <a:t>Public agencies and organizations that need confidential offers with a verifiable selection rule.</a:t>
            </a:r>
          </a:p>
        </p:txBody>
      </p:sp>
      <p:sp>
        <p:nvSpPr>
          <p:cNvPr id="8" name="rule1">
            <a:extLst xmlns:a="http://schemas.openxmlformats.org/drawingml/2006/main">
              <a:ext uri="{FF2B5EF4-FFF2-40B4-BE49-F238E27FC236}">
                <a16:creationId xmlns:a16="http://schemas.microsoft.com/office/drawing/2014/main" id="{2936269A-DFAB-4C44-99AA-5F4CA73ACD64}"/>
              </a:ext>
            </a:extLst>
          </p:cNvPr>
          <p:cNvSpPr>
            <a:spLocks xmlns:a="http://schemas.openxmlformats.org/drawingml/2006/main" noGrp="1"/>
          </p:cNvSpPr>
          <p:nvPr/>
        </p:nvSpPr>
        <p:spPr>
          <a:xfrm xmlns:a="http://schemas.openxmlformats.org/drawingml/2006/main">
            <a:off x="781050" y="3638550"/>
            <a:ext cx="10382250" cy="19050"/>
          </a:xfrm>
          <a:prstGeom xmlns:a="http://schemas.openxmlformats.org/drawingml/2006/main" prst="rect">
            <a:avLst/>
          </a:prstGeom>
          <a:solidFill xmlns:a="http://schemas.openxmlformats.org/drawingml/2006/main">
            <a:srgbClr val="BBD2E4"/>
          </a:solidFill>
          <a:ln xmlns:a="http://schemas.openxmlformats.org/drawingml/2006/main" w="0">
            <a:noFill/>
            <a:prstDash val="solid"/>
          </a:ln>
        </p:spPr>
      </p:sp>
      <p:sp>
        <p:nvSpPr>
          <p:cNvPr id="9" name="path label">
            <a:extLst xmlns:a="http://schemas.openxmlformats.org/drawingml/2006/main">
              <a:ext uri="{FF2B5EF4-FFF2-40B4-BE49-F238E27FC236}">
                <a16:creationId xmlns:a16="http://schemas.microsoft.com/office/drawing/2014/main" id="{74A56A1A-CDF8-49FA-BFB7-3E3547D984DC}"/>
              </a:ext>
            </a:extLst>
          </p:cNvPr>
          <p:cNvSpPr>
            <a:spLocks xmlns:a="http://schemas.openxmlformats.org/drawingml/2006/main" noGrp="1"/>
          </p:cNvSpPr>
          <p:nvPr/>
        </p:nvSpPr>
        <p:spPr>
          <a:xfrm xmlns:a="http://schemas.openxmlformats.org/drawingml/2006/main">
            <a:off x="781050" y="3924300"/>
            <a:ext cx="1019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26A97A"/>
                </a:solidFill>
              </a:defRPr>
            </a:defPPr>
          </a:lstStyle>
          <a:p xmlns:a="http://schemas.openxmlformats.org/drawingml/2006/main">
            <a:pPr>
              <a:buNone/>
              <a:defRPr sz="1350" b="1">
                <a:solidFill>
                  <a:srgbClr val="26A97A"/>
                </a:solidFill>
              </a:defRPr>
            </a:pPr>
            <a:r>
              <a:rPr sz="1350" b="1">
                <a:solidFill>
                  <a:srgbClr val="26A97A"/>
                </a:solidFill>
              </a:rPr>
              <a:t>PILOT PATH</a:t>
            </a:r>
          </a:p>
        </p:txBody>
      </p:sp>
      <p:sp>
        <p:nvSpPr>
          <p:cNvPr id="10" name="path copy">
            <a:extLst xmlns:a="http://schemas.openxmlformats.org/drawingml/2006/main">
              <a:ext uri="{FF2B5EF4-FFF2-40B4-BE49-F238E27FC236}">
                <a16:creationId xmlns:a16="http://schemas.microsoft.com/office/drawing/2014/main" id="{83969BB5-AD3B-48D2-BA35-4F115B19B7D8}"/>
              </a:ext>
            </a:extLst>
          </p:cNvPr>
          <p:cNvSpPr>
            <a:spLocks xmlns:a="http://schemas.openxmlformats.org/drawingml/2006/main" noGrp="1"/>
          </p:cNvSpPr>
          <p:nvPr/>
        </p:nvSpPr>
        <p:spPr>
          <a:xfrm xmlns:a="http://schemas.openxmlformats.org/drawingml/2006/main">
            <a:off x="781050" y="4457700"/>
            <a:ext cx="10191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A2444"/>
                </a:solidFill>
              </a:defRPr>
            </a:defPPr>
          </a:lstStyle>
          <a:p xmlns:a="http://schemas.openxmlformats.org/drawingml/2006/main">
            <a:pPr>
              <a:buNone/>
              <a:defRPr sz="1875" b="0">
                <a:solidFill>
                  <a:srgbClr val="0A2444"/>
                </a:solidFill>
              </a:defRPr>
            </a:pPr>
            <a:r>
              <a:rPr sz="1875" b="0">
                <a:solidFill>
                  <a:srgbClr val="0A2444"/>
                </a:solidFill>
              </a:rPr>
              <a:t>Work with one willing issuer on a low-risk, non-binding tender. Validate bidder onboarding and witness handoff first. Test closing and settlement end to end. Add payment or award integrations only after issuer workflow, security, and compliance review.</a:t>
            </a:r>
          </a:p>
        </p:txBody>
      </p:sp>
      <p:sp>
        <p:nvSpPr>
          <p:cNvPr id="11" name="closing">
            <a:extLst xmlns:a="http://schemas.openxmlformats.org/drawingml/2006/main">
              <a:ext uri="{FF2B5EF4-FFF2-40B4-BE49-F238E27FC236}">
                <a16:creationId xmlns:a16="http://schemas.microsoft.com/office/drawing/2014/main" id="{CCA8D30F-A96F-4C04-B03D-E6F1E252F67A}"/>
              </a:ext>
            </a:extLst>
          </p:cNvPr>
          <p:cNvSpPr>
            <a:spLocks xmlns:a="http://schemas.openxmlformats.org/drawingml/2006/main" noGrp="1"/>
          </p:cNvSpPr>
          <p:nvPr/>
        </p:nvSpPr>
        <p:spPr>
          <a:xfrm xmlns:a="http://schemas.openxmlformats.org/drawingml/2006/main">
            <a:off x="781050" y="590550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55718D"/>
                </a:solidFill>
              </a:defRPr>
            </a:defPPr>
          </a:lstStyle>
          <a:p xmlns:a="http://schemas.openxmlformats.org/drawingml/2006/main">
            <a:pPr>
              <a:buNone/>
              <a:defRPr sz="1350" b="1">
                <a:solidFill>
                  <a:srgbClr val="55718D"/>
                </a:solidFill>
              </a:defRPr>
            </a:pPr>
            <a:r>
              <a:rPr sz="1350" b="1">
                <a:solidFill>
                  <a:srgbClr val="55718D"/>
                </a:solidFill>
              </a:rPr>
              <a:t>AegisBid records a settlement result. The issuer handles award and payment.</a:t>
            </a:r>
          </a:p>
        </p:txBody>
      </p:sp>
    </p:spTree>
    <p:extLst>
      <p:ext uri="{BB962C8B-B14F-4D97-AF65-F5344CB8AC3E}">
        <p14:creationId xmlns:p14="http://schemas.microsoft.com/office/powerpoint/2010/main" val="16794165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2026-10-10T10:37:46.2220000Z</dcterms:created>
  <dcterms:modified xsi:type="dcterms:W3CDTF">2026-10-10T10:37:46.2230000Z</dcterms:modified>
</coreProperties>
</file>